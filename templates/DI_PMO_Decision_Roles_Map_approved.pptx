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5740" y="1874520"/>
            <a:ext cx="4297680" cy="4297680"/>
          </a:xfrm>
          <a:prstGeom prst="ellipse">
            <a:avLst/>
          </a:prstGeom>
          <a:solidFill>
            <a:srgbClr val="C9A6E0">
              <a:alpha val="38000"/>
            </a:srgbClr>
          </a:solidFill>
          <a:ln w="15875">
            <a:solidFill>
              <a:srgbClr val="8A3F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54580" y="1874520"/>
            <a:ext cx="4297680" cy="4297680"/>
          </a:xfrm>
          <a:prstGeom prst="ellipse">
            <a:avLst/>
          </a:prstGeom>
          <a:solidFill>
            <a:srgbClr val="A9C9F0">
              <a:alpha val="38000"/>
            </a:srgbClr>
          </a:solidFill>
          <a:ln w="15875">
            <a:solidFill>
              <a:srgbClr val="1F6F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5740" y="4389120"/>
            <a:ext cx="4297680" cy="4297680"/>
          </a:xfrm>
          <a:prstGeom prst="ellipse">
            <a:avLst/>
          </a:prstGeom>
          <a:solidFill>
            <a:srgbClr val="B2DDB0">
              <a:alpha val="38000"/>
            </a:srgbClr>
          </a:solidFill>
          <a:ln w="15875">
            <a:solidFill>
              <a:srgbClr val="2E8F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54580" y="4389120"/>
            <a:ext cx="4297680" cy="4297680"/>
          </a:xfrm>
          <a:prstGeom prst="ellipse">
            <a:avLst/>
          </a:prstGeom>
          <a:solidFill>
            <a:srgbClr val="BDB6E6">
              <a:alpha val="38000"/>
            </a:srgbClr>
          </a:solidFill>
          <a:ln w="15875">
            <a:solidFill>
              <a:srgbClr val="5446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20116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DI PMO Decision Roles Map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77724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A3F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r>
              <a:rPr lang="en-US" sz="2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r>
              <a:rPr lang="en-US" sz="2800" b="1" dirty="0">
                <a:solidFill>
                  <a:srgbClr val="1F6F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CIO</a:t>
            </a:r>
            <a:r>
              <a:rPr lang="en-US" sz="2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r>
              <a:rPr lang="en-US" sz="2800" b="1" dirty="0">
                <a:solidFill>
                  <a:srgbClr val="2E8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CTO</a:t>
            </a:r>
            <a:r>
              <a:rPr lang="en-US" sz="2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r>
              <a:rPr lang="en-US" sz="2800" b="1" dirty="0">
                <a:solidFill>
                  <a:srgbClr val="5446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CISO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6126480" cy="0"/>
          </a:xfrm>
          <a:prstGeom prst="line">
            <a:avLst/>
          </a:prstGeom>
          <a:noFill/>
          <a:ln w="9525">
            <a:solidFill>
              <a:srgbClr val="C9C2B2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274320" y="142646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Circles = what each role owns   •   Overlaps = what two roles decide together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1620" y="2258568"/>
            <a:ext cx="1005840" cy="329184"/>
          </a:xfrm>
          <a:prstGeom prst="roundRect">
            <a:avLst>
              <a:gd name="adj" fmla="val 16667"/>
            </a:avLst>
          </a:prstGeom>
          <a:solidFill>
            <a:srgbClr val="8A3FB5"/>
          </a:solidFill>
          <a:ln w="12700">
            <a:solidFill>
              <a:srgbClr val="8A3F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31620" y="2258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2679192"/>
            <a:ext cx="2331720" cy="237744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8A3F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Focus: </a:t>
            </a:r>
            <a:r>
              <a:rPr lang="en-US" sz="950" i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Strategy, value &amp; accountability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08660" y="3108960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the mandate</a:t>
            </a:r>
            <a:endParaRPr lang="en-US" sz="10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business outcomes</a:t>
            </a:r>
            <a:endParaRPr lang="en-US" sz="10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investment</a:t>
            </a:r>
            <a:endParaRPr lang="en-US" sz="10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to the board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20540" y="2258568"/>
            <a:ext cx="1005840" cy="329184"/>
          </a:xfrm>
          <a:prstGeom prst="roundRect">
            <a:avLst>
              <a:gd name="adj" fmla="val 16667"/>
            </a:avLst>
          </a:prstGeom>
          <a:solidFill>
            <a:srgbClr val="1F6FD6"/>
          </a:solidFill>
          <a:ln w="12700">
            <a:solidFill>
              <a:srgbClr val="1F6F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20540" y="2258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57600" y="2679192"/>
            <a:ext cx="2331720" cy="237744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1F6F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Focus: </a:t>
            </a:r>
            <a:r>
              <a:rPr lang="en-US" sz="950" i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IT, data &amp; adoption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411980" y="3108960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 adoption</a:t>
            </a:r>
            <a:endParaRPr lang="en-US" sz="1050" dirty="0"/>
          </a:p>
          <a:p>
            <a:pPr algn="r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data governance</a:t>
            </a:r>
            <a:endParaRPr lang="en-US" sz="1050" dirty="0"/>
          </a:p>
          <a:p>
            <a:pPr algn="r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 the existing estate</a:t>
            </a:r>
            <a:endParaRPr lang="en-US" sz="1050" dirty="0"/>
          </a:p>
          <a:p>
            <a:pPr algn="r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realized value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531620" y="7973568"/>
            <a:ext cx="1005840" cy="329184"/>
          </a:xfrm>
          <a:prstGeom prst="roundRect">
            <a:avLst>
              <a:gd name="adj" fmla="val 16667"/>
            </a:avLst>
          </a:prstGeom>
          <a:solidFill>
            <a:srgbClr val="2E8F3C"/>
          </a:solidFill>
          <a:ln w="12700">
            <a:solidFill>
              <a:srgbClr val="2E8F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31620" y="7973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28700" y="7626096"/>
            <a:ext cx="2011680" cy="237744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2E8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Focus: </a:t>
            </a:r>
            <a:r>
              <a:rPr lang="en-US" sz="950" i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&amp; delivery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08660" y="6510528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target architecture</a:t>
            </a:r>
            <a:endParaRPr lang="en-US" sz="10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delivery</a:t>
            </a:r>
            <a:endParaRPr lang="en-US" sz="10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feasibility</a:t>
            </a:r>
            <a:endParaRPr lang="en-US" sz="10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platforms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20540" y="7973568"/>
            <a:ext cx="1005840" cy="329184"/>
          </a:xfrm>
          <a:prstGeom prst="roundRect">
            <a:avLst>
              <a:gd name="adj" fmla="val 16667"/>
            </a:avLst>
          </a:prstGeom>
          <a:solidFill>
            <a:srgbClr val="5446B0"/>
          </a:solidFill>
          <a:ln w="12700">
            <a:solidFill>
              <a:srgbClr val="5446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20540" y="7973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CISO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657600" y="7626096"/>
            <a:ext cx="2331720" cy="237744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5446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Focus: </a:t>
            </a:r>
            <a:r>
              <a:rPr lang="en-US" sz="950" i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Security, control &amp; compliance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411980" y="6510528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access boundaries</a:t>
            </a:r>
            <a:endParaRPr lang="en-US" sz="1050" dirty="0"/>
          </a:p>
          <a:p>
            <a:pPr algn="r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high-risk cases</a:t>
            </a:r>
            <a:endParaRPr lang="en-US" sz="1050" dirty="0"/>
          </a:p>
          <a:p>
            <a:pPr algn="r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cyber-risk posture</a:t>
            </a:r>
            <a:endParaRPr lang="en-US" sz="1050" dirty="0"/>
          </a:p>
          <a:p>
            <a:pPr algn="r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readiness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651760" y="29900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A3F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 + CIO</a:t>
            </a:r>
            <a:endParaRPr lang="en-US" sz="12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Transformation &amp; value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651760" y="3465576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Investment priorities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readiness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after go-live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72668" y="47137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A3F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 + CTO</a:t>
            </a:r>
            <a:endParaRPr lang="en-US" sz="12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Ambition vs readiness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72668" y="518922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Capability roadmap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 &amp; sequencing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bets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30852" y="47137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6F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CIO + CISO</a:t>
            </a:r>
            <a:endParaRPr lang="en-US" sz="12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control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30852" y="518922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access rights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vendor risk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trail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651760" y="60853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8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CTO + CISO</a:t>
            </a:r>
            <a:endParaRPr lang="en-US" sz="12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delivery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2651760" y="656082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by design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Controls before release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testing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537460" y="4663440"/>
            <a:ext cx="1783080" cy="1234440"/>
          </a:xfrm>
          <a:prstGeom prst="rect">
            <a:avLst/>
          </a:prstGeom>
          <a:solidFill>
            <a:srgbClr val="1A1A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80360" y="4773168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80360" y="4773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 PMO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583180" y="51206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Council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rights · escalation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decision register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74320" y="883310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6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Adapted from “The AI Governance Roles Map” by Prashant Rathi  ·  DI PMO version, draft for review  ·  © 2026 EVEglyphDesign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 PMO Decision Roles Map</dc:title>
  <dc:subject>PptxGenJS Presentation</dc:subject>
  <dc:creator>PptxGenJS</dc:creator>
  <cp:lastModifiedBy>PptxGenJS</cp:lastModifiedBy>
  <cp:revision>1</cp:revision>
  <dcterms:created xsi:type="dcterms:W3CDTF">2026-10-22T23:39:13Z</dcterms:created>
  <dcterms:modified xsi:type="dcterms:W3CDTF">2026-10-22T23:39:13Z</dcterms:modified>
</cp:coreProperties>
</file>