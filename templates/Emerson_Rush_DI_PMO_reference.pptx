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emersonrush.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233"/>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EMERSON RUSH</a:t>
            </a:r>
            <a:endParaRPr lang="en-US" sz="1100" dirty="0"/>
          </a:p>
        </p:txBody>
      </p:sp>
      <p:sp>
        <p:nvSpPr>
          <p:cNvPr id="3" name="Text 1"/>
          <p:cNvSpPr/>
          <p:nvPr/>
        </p:nvSpPr>
        <p:spPr>
          <a:xfrm>
            <a:off x="548640" y="1417320"/>
            <a:ext cx="7772400" cy="274320"/>
          </a:xfrm>
          <a:prstGeom prst="rect">
            <a:avLst/>
          </a:prstGeom>
          <a:noFill/>
          <a:ln/>
        </p:spPr>
        <p:txBody>
          <a:bodyPr wrap="square" lIns="0" tIns="0" rIns="0" bIns="0" rtlCol="0" anchor="t"/>
          <a:lstStyle/>
          <a:p>
            <a:pPr indent="0" marL="0">
              <a:buNone/>
            </a:pPr>
            <a:r>
              <a:rPr lang="en-US" sz="1100" b="1" spc="150" kern="0" dirty="0">
                <a:solidFill>
                  <a:srgbClr val="C1272D"/>
                </a:solidFill>
                <a:latin typeface="Calibri" pitchFamily="34" charset="0"/>
                <a:ea typeface="Calibri" pitchFamily="34" charset="-122"/>
                <a:cs typeface="Calibri" pitchFamily="34" charset="-120"/>
              </a:rPr>
              <a:t>DECISION INTELLIGENCE PMO MODEL</a:t>
            </a:r>
            <a:endParaRPr lang="en-US" sz="1100" dirty="0"/>
          </a:p>
        </p:txBody>
      </p:sp>
      <p:sp>
        <p:nvSpPr>
          <p:cNvPr id="4" name="Text 2"/>
          <p:cNvSpPr/>
          <p:nvPr/>
        </p:nvSpPr>
        <p:spPr>
          <a:xfrm>
            <a:off x="548640" y="1737360"/>
            <a:ext cx="7863840" cy="1371600"/>
          </a:xfrm>
          <a:prstGeom prst="rect">
            <a:avLst/>
          </a:prstGeom>
          <a:noFill/>
          <a:ln/>
        </p:spPr>
        <p:txBody>
          <a:bodyPr wrap="square" lIns="0" tIns="0" rIns="0" bIns="0" rtlCol="0" anchor="t"/>
          <a:lstStyle/>
          <a:p>
            <a:pPr indent="0" marL="0">
              <a:buNone/>
            </a:pPr>
            <a:r>
              <a:rPr lang="en-US" sz="2400" dirty="0">
                <a:solidFill>
                  <a:srgbClr val="FFFFFF"/>
                </a:solidFill>
                <a:latin typeface="Calibri Light" pitchFamily="34" charset="0"/>
                <a:ea typeface="Calibri Light" pitchFamily="34" charset="-122"/>
                <a:cs typeface="Calibri Light" pitchFamily="34" charset="-120"/>
              </a:rPr>
              <a:t>A central program blueprint for transformation governance, delivery management, decision control, and business-case realization.</a:t>
            </a:r>
            <a:endParaRPr lang="en-US" sz="2400" dirty="0"/>
          </a:p>
        </p:txBody>
      </p:sp>
      <p:sp>
        <p:nvSpPr>
          <p:cNvPr id="5" name="Text 3"/>
          <p:cNvSpPr/>
          <p:nvPr/>
        </p:nvSpPr>
        <p:spPr>
          <a:xfrm>
            <a:off x="548640" y="3291840"/>
            <a:ext cx="7680960" cy="365760"/>
          </a:xfrm>
          <a:prstGeom prst="rect">
            <a:avLst/>
          </a:prstGeom>
          <a:noFill/>
          <a:ln/>
        </p:spPr>
        <p:txBody>
          <a:bodyPr wrap="square" lIns="0" tIns="0" rIns="0" bIns="0" rtlCol="0" anchor="t"/>
          <a:lstStyle/>
          <a:p>
            <a:pPr indent="0" marL="0">
              <a:buNone/>
            </a:pPr>
            <a:r>
              <a:rPr lang="en-US" sz="1500" dirty="0">
                <a:solidFill>
                  <a:srgbClr val="C9CDD6"/>
                </a:solidFill>
                <a:latin typeface="Calibri" pitchFamily="34" charset="0"/>
                <a:ea typeface="Calibri" pitchFamily="34" charset="-122"/>
                <a:cs typeface="Calibri" pitchFamily="34" charset="-120"/>
              </a:rPr>
              <a:t>Owned by the company as a capital asset.</a:t>
            </a:r>
            <a:endParaRPr lang="en-US" sz="1500" dirty="0"/>
          </a:p>
        </p:txBody>
      </p:sp>
      <p:sp>
        <p:nvSpPr>
          <p:cNvPr id="6" name="Shape 4"/>
          <p:cNvSpPr/>
          <p:nvPr/>
        </p:nvSpPr>
        <p:spPr>
          <a:xfrm>
            <a:off x="548640" y="4069080"/>
            <a:ext cx="8046720" cy="0"/>
          </a:xfrm>
          <a:prstGeom prst="line">
            <a:avLst/>
          </a:prstGeom>
          <a:noFill/>
          <a:ln w="9525">
            <a:solidFill>
              <a:srgbClr val="3A4357"/>
            </a:solidFill>
            <a:prstDash val="solid"/>
          </a:ln>
        </p:spPr>
      </p:sp>
      <p:sp>
        <p:nvSpPr>
          <p:cNvPr id="7" name="Text 5"/>
          <p:cNvSpPr/>
          <p:nvPr/>
        </p:nvSpPr>
        <p:spPr>
          <a:xfrm>
            <a:off x="548640" y="4206240"/>
            <a:ext cx="4114800" cy="27432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Lilian Corvington</a:t>
            </a:r>
            <a:endParaRPr lang="en-US" sz="1300" dirty="0"/>
          </a:p>
        </p:txBody>
      </p:sp>
      <p:sp>
        <p:nvSpPr>
          <p:cNvPr id="8" name="Text 6"/>
          <p:cNvSpPr/>
          <p:nvPr/>
        </p:nvSpPr>
        <p:spPr>
          <a:xfrm>
            <a:off x="4572000" y="4206240"/>
            <a:ext cx="4023360" cy="274320"/>
          </a:xfrm>
          <a:prstGeom prst="rect">
            <a:avLst/>
          </a:prstGeom>
          <a:noFill/>
          <a:ln/>
        </p:spPr>
        <p:txBody>
          <a:bodyPr wrap="square" lIns="0" tIns="0" rIns="0" bIns="0" rtlCol="0" anchor="t"/>
          <a:lstStyle/>
          <a:p>
            <a:pPr algn="r" indent="0" marL="0">
              <a:buNone/>
            </a:pPr>
            <a:r>
              <a:rPr lang="en-US" sz="1100" dirty="0">
                <a:solidFill>
                  <a:srgbClr val="C9CDD6"/>
                </a:solidFill>
                <a:latin typeface="Calibri" pitchFamily="34" charset="0"/>
                <a:ea typeface="Calibri" pitchFamily="34" charset="-122"/>
                <a:cs typeface="Calibri" pitchFamily="34" charset="-120"/>
              </a:rPr>
              <a:t>Prepared for Petra ten Berg  ·  October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PURPOSE AND POSITIONING</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A structured operating layer across the tools already in place</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2</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600200"/>
            <a:ext cx="2788920" cy="566928"/>
          </a:xfrm>
          <a:prstGeom prst="chevron">
            <a:avLst/>
          </a:prstGeom>
          <a:solidFill>
            <a:srgbClr val="1A2233"/>
          </a:solidFill>
          <a:ln w="12700">
            <a:solidFill>
              <a:srgbClr val="FFFFFF"/>
            </a:solidFill>
            <a:prstDash val="solid"/>
          </a:ln>
        </p:spPr>
      </p:sp>
      <p:sp>
        <p:nvSpPr>
          <p:cNvPr id="10" name="Text 8"/>
          <p:cNvSpPr/>
          <p:nvPr/>
        </p:nvSpPr>
        <p:spPr>
          <a:xfrm>
            <a:off x="777240" y="1600200"/>
            <a:ext cx="21945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Captured once</a:t>
            </a:r>
            <a:endParaRPr lang="en-US" sz="1400" dirty="0"/>
          </a:p>
        </p:txBody>
      </p:sp>
      <p:sp>
        <p:nvSpPr>
          <p:cNvPr id="11" name="Shape 9"/>
          <p:cNvSpPr/>
          <p:nvPr/>
        </p:nvSpPr>
        <p:spPr>
          <a:xfrm>
            <a:off x="3200400" y="1600200"/>
            <a:ext cx="2788920" cy="566928"/>
          </a:xfrm>
          <a:prstGeom prst="chevron">
            <a:avLst/>
          </a:prstGeom>
          <a:solidFill>
            <a:srgbClr val="C1272D"/>
          </a:solidFill>
          <a:ln w="12700">
            <a:solidFill>
              <a:srgbClr val="FFFFFF"/>
            </a:solidFill>
            <a:prstDash val="solid"/>
          </a:ln>
        </p:spPr>
      </p:sp>
      <p:sp>
        <p:nvSpPr>
          <p:cNvPr id="12" name="Text 10"/>
          <p:cNvSpPr/>
          <p:nvPr/>
        </p:nvSpPr>
        <p:spPr>
          <a:xfrm>
            <a:off x="3520440" y="1600200"/>
            <a:ext cx="21945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Reviewed by people</a:t>
            </a:r>
            <a:endParaRPr lang="en-US" sz="1400" dirty="0"/>
          </a:p>
        </p:txBody>
      </p:sp>
      <p:sp>
        <p:nvSpPr>
          <p:cNvPr id="13" name="Shape 11"/>
          <p:cNvSpPr/>
          <p:nvPr/>
        </p:nvSpPr>
        <p:spPr>
          <a:xfrm>
            <a:off x="5943600" y="1600200"/>
            <a:ext cx="2788920" cy="566928"/>
          </a:xfrm>
          <a:prstGeom prst="chevron">
            <a:avLst/>
          </a:prstGeom>
          <a:solidFill>
            <a:srgbClr val="1A2233"/>
          </a:solidFill>
          <a:ln w="12700">
            <a:solidFill>
              <a:srgbClr val="FFFFFF"/>
            </a:solidFill>
            <a:prstDash val="solid"/>
          </a:ln>
        </p:spPr>
      </p:sp>
      <p:sp>
        <p:nvSpPr>
          <p:cNvPr id="14" name="Text 12"/>
          <p:cNvSpPr/>
          <p:nvPr/>
        </p:nvSpPr>
        <p:spPr>
          <a:xfrm>
            <a:off x="6263640" y="1600200"/>
            <a:ext cx="21945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Reused consistently</a:t>
            </a:r>
            <a:endParaRPr lang="en-US" sz="1400" dirty="0"/>
          </a:p>
        </p:txBody>
      </p:sp>
      <p:sp>
        <p:nvSpPr>
          <p:cNvPr id="15" name="Text 13"/>
          <p:cNvSpPr/>
          <p:nvPr/>
        </p:nvSpPr>
        <p:spPr>
          <a:xfrm>
            <a:off x="457200" y="2258568"/>
            <a:ext cx="8229600" cy="274320"/>
          </a:xfrm>
          <a:prstGeom prst="rect">
            <a:avLst/>
          </a:prstGeom>
          <a:noFill/>
          <a:ln/>
        </p:spPr>
        <p:txBody>
          <a:bodyPr wrap="square" lIns="0" tIns="0" rIns="0" bIns="0" rtlCol="0" anchor="t"/>
          <a:lstStyle/>
          <a:p>
            <a:pPr algn="ctr" indent="0" marL="0">
              <a:buNone/>
            </a:pPr>
            <a:r>
              <a:rPr lang="en-US" sz="1050" dirty="0">
                <a:solidFill>
                  <a:srgbClr val="676A75"/>
                </a:solidFill>
                <a:latin typeface="Calibri" pitchFamily="34" charset="0"/>
                <a:ea typeface="Calibri" pitchFamily="34" charset="-122"/>
                <a:cs typeface="Calibri" pitchFamily="34" charset="-120"/>
              </a:rPr>
              <a:t>Program decisions, responsibilities, evidence, risks, requirements, deliverables, actions and reasoning</a:t>
            </a:r>
            <a:endParaRPr lang="en-US" sz="1050" dirty="0"/>
          </a:p>
        </p:txBody>
      </p:sp>
      <p:sp>
        <p:nvSpPr>
          <p:cNvPr id="16" name="Text 14"/>
          <p:cNvSpPr/>
          <p:nvPr/>
        </p:nvSpPr>
        <p:spPr>
          <a:xfrm>
            <a:off x="457200" y="2697480"/>
            <a:ext cx="8229600" cy="228600"/>
          </a:xfrm>
          <a:prstGeom prst="rect">
            <a:avLst/>
          </a:prstGeom>
          <a:noFill/>
          <a:ln/>
        </p:spPr>
        <p:txBody>
          <a:bodyPr wrap="square" lIns="0" tIns="0" rIns="0" bIns="0" rtlCol="0" anchor="t"/>
          <a:lstStyle/>
          <a:p>
            <a:pPr indent="0" marL="0">
              <a:buNone/>
            </a:pPr>
            <a:r>
              <a:rPr lang="en-US" sz="950" b="1" spc="100" kern="0" dirty="0">
                <a:solidFill>
                  <a:srgbClr val="676A75"/>
                </a:solidFill>
                <a:latin typeface="Calibri" pitchFamily="34" charset="0"/>
                <a:ea typeface="Calibri" pitchFamily="34" charset="-122"/>
                <a:cs typeface="Calibri" pitchFamily="34" charset="-120"/>
              </a:rPr>
              <a:t>IT DOES NOT REPLACE</a:t>
            </a:r>
            <a:endParaRPr lang="en-US" sz="950" dirty="0"/>
          </a:p>
        </p:txBody>
      </p:sp>
      <p:sp>
        <p:nvSpPr>
          <p:cNvPr id="17" name="Shape 15"/>
          <p:cNvSpPr/>
          <p:nvPr/>
        </p:nvSpPr>
        <p:spPr>
          <a:xfrm>
            <a:off x="457200" y="2944368"/>
            <a:ext cx="1280160" cy="566928"/>
          </a:xfrm>
          <a:prstGeom prst="rect">
            <a:avLst/>
          </a:prstGeom>
          <a:solidFill>
            <a:srgbClr val="F1F4F7"/>
          </a:solidFill>
          <a:ln w="9525">
            <a:solidFill>
              <a:srgbClr val="DDE1E6"/>
            </a:solidFill>
            <a:prstDash val="solid"/>
          </a:ln>
        </p:spPr>
      </p:sp>
      <p:sp>
        <p:nvSpPr>
          <p:cNvPr id="18" name="Text 16"/>
          <p:cNvSpPr/>
          <p:nvPr/>
        </p:nvSpPr>
        <p:spPr>
          <a:xfrm>
            <a:off x="548640" y="2944368"/>
            <a:ext cx="1097280" cy="566928"/>
          </a:xfrm>
          <a:prstGeom prst="rect">
            <a:avLst/>
          </a:prstGeom>
          <a:noFill/>
          <a:ln/>
        </p:spPr>
        <p:txBody>
          <a:bodyPr wrap="square" lIns="0" tIns="0" rIns="0" bIns="0" rtlCol="0" anchor="ctr"/>
          <a:lstStyle/>
          <a:p>
            <a:pPr algn="ctr" indent="0" marL="0">
              <a:buNone/>
            </a:pPr>
            <a:r>
              <a:rPr lang="en-US" sz="1100" dirty="0">
                <a:solidFill>
                  <a:srgbClr val="1A2233"/>
                </a:solidFill>
                <a:latin typeface="Calibri" pitchFamily="34" charset="0"/>
                <a:ea typeface="Calibri" pitchFamily="34" charset="-122"/>
                <a:cs typeface="Calibri" pitchFamily="34" charset="-120"/>
              </a:rPr>
              <a:t>SAP</a:t>
            </a:r>
            <a:endParaRPr lang="en-US" sz="1100" dirty="0"/>
          </a:p>
        </p:txBody>
      </p:sp>
      <p:sp>
        <p:nvSpPr>
          <p:cNvPr id="19" name="Shape 17"/>
          <p:cNvSpPr/>
          <p:nvPr/>
        </p:nvSpPr>
        <p:spPr>
          <a:xfrm>
            <a:off x="1858975" y="2944368"/>
            <a:ext cx="2011680" cy="566928"/>
          </a:xfrm>
          <a:prstGeom prst="rect">
            <a:avLst/>
          </a:prstGeom>
          <a:solidFill>
            <a:srgbClr val="F1F4F7"/>
          </a:solidFill>
          <a:ln w="9525">
            <a:solidFill>
              <a:srgbClr val="DDE1E6"/>
            </a:solidFill>
            <a:prstDash val="solid"/>
          </a:ln>
        </p:spPr>
      </p:sp>
      <p:sp>
        <p:nvSpPr>
          <p:cNvPr id="20" name="Text 18"/>
          <p:cNvSpPr/>
          <p:nvPr/>
        </p:nvSpPr>
        <p:spPr>
          <a:xfrm>
            <a:off x="1950415" y="2944368"/>
            <a:ext cx="1828800" cy="566928"/>
          </a:xfrm>
          <a:prstGeom prst="rect">
            <a:avLst/>
          </a:prstGeom>
          <a:noFill/>
          <a:ln/>
        </p:spPr>
        <p:txBody>
          <a:bodyPr wrap="square" lIns="0" tIns="0" rIns="0" bIns="0" rtlCol="0" anchor="ctr"/>
          <a:lstStyle/>
          <a:p>
            <a:pPr algn="ctr" indent="0" marL="0">
              <a:buNone/>
            </a:pPr>
            <a:r>
              <a:rPr lang="en-US" sz="1100" dirty="0">
                <a:solidFill>
                  <a:srgbClr val="1A2233"/>
                </a:solidFill>
                <a:latin typeface="Calibri" pitchFamily="34" charset="0"/>
                <a:ea typeface="Calibri" pitchFamily="34" charset="-122"/>
                <a:cs typeface="Calibri" pitchFamily="34" charset="-120"/>
              </a:rPr>
              <a:t>Enterprise systems of record</a:t>
            </a:r>
            <a:endParaRPr lang="en-US" sz="1100" dirty="0"/>
          </a:p>
        </p:txBody>
      </p:sp>
      <p:sp>
        <p:nvSpPr>
          <p:cNvPr id="21" name="Shape 19"/>
          <p:cNvSpPr/>
          <p:nvPr/>
        </p:nvSpPr>
        <p:spPr>
          <a:xfrm>
            <a:off x="3992270" y="2944368"/>
            <a:ext cx="1645920" cy="566928"/>
          </a:xfrm>
          <a:prstGeom prst="rect">
            <a:avLst/>
          </a:prstGeom>
          <a:solidFill>
            <a:srgbClr val="F1F4F7"/>
          </a:solidFill>
          <a:ln w="9525">
            <a:solidFill>
              <a:srgbClr val="DDE1E6"/>
            </a:solidFill>
            <a:prstDash val="solid"/>
          </a:ln>
        </p:spPr>
      </p:sp>
      <p:sp>
        <p:nvSpPr>
          <p:cNvPr id="22" name="Text 20"/>
          <p:cNvSpPr/>
          <p:nvPr/>
        </p:nvSpPr>
        <p:spPr>
          <a:xfrm>
            <a:off x="4083710" y="2944368"/>
            <a:ext cx="1463040" cy="566928"/>
          </a:xfrm>
          <a:prstGeom prst="rect">
            <a:avLst/>
          </a:prstGeom>
          <a:noFill/>
          <a:ln/>
        </p:spPr>
        <p:txBody>
          <a:bodyPr wrap="square" lIns="0" tIns="0" rIns="0" bIns="0" rtlCol="0" anchor="ctr"/>
          <a:lstStyle/>
          <a:p>
            <a:pPr algn="ctr" indent="0" marL="0">
              <a:buNone/>
            </a:pPr>
            <a:r>
              <a:rPr lang="en-US" sz="1100" dirty="0">
                <a:solidFill>
                  <a:srgbClr val="1A2233"/>
                </a:solidFill>
                <a:latin typeface="Calibri" pitchFamily="34" charset="0"/>
                <a:ea typeface="Calibri" pitchFamily="34" charset="-122"/>
                <a:cs typeface="Calibri" pitchFamily="34" charset="-120"/>
              </a:rPr>
              <a:t>Delivery partners</a:t>
            </a:r>
            <a:endParaRPr lang="en-US" sz="1100" dirty="0"/>
          </a:p>
        </p:txBody>
      </p:sp>
      <p:sp>
        <p:nvSpPr>
          <p:cNvPr id="23" name="Shape 21"/>
          <p:cNvSpPr/>
          <p:nvPr/>
        </p:nvSpPr>
        <p:spPr>
          <a:xfrm>
            <a:off x="5759806" y="2944368"/>
            <a:ext cx="2560320" cy="566928"/>
          </a:xfrm>
          <a:prstGeom prst="rect">
            <a:avLst/>
          </a:prstGeom>
          <a:solidFill>
            <a:srgbClr val="F1F4F7"/>
          </a:solidFill>
          <a:ln w="9525">
            <a:solidFill>
              <a:srgbClr val="DDE1E6"/>
            </a:solidFill>
            <a:prstDash val="solid"/>
          </a:ln>
        </p:spPr>
      </p:sp>
      <p:sp>
        <p:nvSpPr>
          <p:cNvPr id="24" name="Text 22"/>
          <p:cNvSpPr/>
          <p:nvPr/>
        </p:nvSpPr>
        <p:spPr>
          <a:xfrm>
            <a:off x="5851246" y="2944368"/>
            <a:ext cx="2377440" cy="566928"/>
          </a:xfrm>
          <a:prstGeom prst="rect">
            <a:avLst/>
          </a:prstGeom>
          <a:noFill/>
          <a:ln/>
        </p:spPr>
        <p:txBody>
          <a:bodyPr wrap="square" lIns="0" tIns="0" rIns="0" bIns="0" rtlCol="0" anchor="ctr"/>
          <a:lstStyle/>
          <a:p>
            <a:pPr algn="ctr" indent="0" marL="0">
              <a:buNone/>
            </a:pPr>
            <a:r>
              <a:rPr lang="en-US" sz="1100" dirty="0">
                <a:solidFill>
                  <a:srgbClr val="1A2233"/>
                </a:solidFill>
                <a:latin typeface="Calibri" pitchFamily="34" charset="0"/>
                <a:ea typeface="Calibri" pitchFamily="34" charset="-122"/>
                <a:cs typeface="Calibri" pitchFamily="34" charset="-120"/>
              </a:rPr>
              <a:t>Established, fit-for-purpose governance and project tools</a:t>
            </a:r>
            <a:endParaRPr lang="en-US" sz="1100" dirty="0"/>
          </a:p>
        </p:txBody>
      </p:sp>
      <p:sp>
        <p:nvSpPr>
          <p:cNvPr id="25" name="Text 23"/>
          <p:cNvSpPr/>
          <p:nvPr/>
        </p:nvSpPr>
        <p:spPr>
          <a:xfrm>
            <a:off x="457200" y="3749040"/>
            <a:ext cx="8229600" cy="868680"/>
          </a:xfrm>
          <a:prstGeom prst="rect">
            <a:avLst/>
          </a:prstGeom>
          <a:noFill/>
          <a:ln/>
        </p:spPr>
        <p:txBody>
          <a:bodyPr wrap="square" lIns="0" tIns="0" rIns="0" bIns="0" rtlCol="0" anchor="t"/>
          <a:lstStyle/>
          <a:p>
            <a:pPr indent="0" marL="0">
              <a:lnSpc>
                <a:spcPct val="110000"/>
              </a:lnSpc>
              <a:buNone/>
            </a:pPr>
            <a:r>
              <a:rPr lang="en-US" sz="1150" b="1" dirty="0">
                <a:solidFill>
                  <a:srgbClr val="1A2233"/>
                </a:solidFill>
                <a:latin typeface="Calibri" pitchFamily="34" charset="0"/>
                <a:ea typeface="Calibri" pitchFamily="34" charset="-122"/>
                <a:cs typeface="Calibri" pitchFamily="34" charset="-120"/>
              </a:rPr>
              <a:t>The intended result is not uncontrolled automation. </a:t>
            </a:r>
            <a:r>
              <a:rPr lang="en-US" sz="1150" dirty="0">
                <a:solidFill>
                  <a:srgbClr val="1A2233"/>
                </a:solidFill>
                <a:latin typeface="Calibri" pitchFamily="34" charset="0"/>
                <a:ea typeface="Calibri" pitchFamily="34" charset="-122"/>
                <a:cs typeface="Calibri" pitchFamily="34" charset="-120"/>
              </a:rPr>
              <a:t>It is a program that applies human expertise to the business decisions that matter while reducing the repeated administrative work of finding documents, recreating context, reconciling conflicting versions, tracking quantitative status and reconstructing why prior decisions were made.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ENTERPRISE DATA AS A PROTECTED CAPITAL ASSET</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The company owns the record; the reasoning stays inside it</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3</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600200"/>
            <a:ext cx="2606040" cy="2103120"/>
          </a:xfrm>
          <a:prstGeom prst="rect">
            <a:avLst/>
          </a:prstGeom>
          <a:solidFill>
            <a:srgbClr val="F1F4F7"/>
          </a:solidFill>
          <a:ln w="9525">
            <a:solidFill>
              <a:srgbClr val="DDE1E6"/>
            </a:solidFill>
            <a:prstDash val="solid"/>
          </a:ln>
        </p:spPr>
      </p:sp>
      <p:sp>
        <p:nvSpPr>
          <p:cNvPr id="10" name="Text 8"/>
          <p:cNvSpPr/>
          <p:nvPr/>
        </p:nvSpPr>
        <p:spPr>
          <a:xfrm>
            <a:off x="685800" y="1755648"/>
            <a:ext cx="914400" cy="274320"/>
          </a:xfrm>
          <a:prstGeom prst="rect">
            <a:avLst/>
          </a:prstGeom>
          <a:noFill/>
          <a:ln/>
        </p:spPr>
        <p:txBody>
          <a:bodyPr wrap="square" lIns="0" tIns="0" rIns="0" bIns="0" rtlCol="0" anchor="t"/>
          <a:lstStyle/>
          <a:p>
            <a:pPr indent="0" marL="0">
              <a:buNone/>
            </a:pPr>
            <a:r>
              <a:rPr lang="en-US" sz="1200" b="1" dirty="0">
                <a:solidFill>
                  <a:srgbClr val="C1272D"/>
                </a:solidFill>
                <a:latin typeface="Calibri" pitchFamily="34" charset="0"/>
                <a:ea typeface="Calibri" pitchFamily="34" charset="-122"/>
                <a:cs typeface="Calibri" pitchFamily="34" charset="-120"/>
              </a:rPr>
              <a:t>01</a:t>
            </a:r>
            <a:endParaRPr lang="en-US" sz="1200" dirty="0"/>
          </a:p>
        </p:txBody>
      </p:sp>
      <p:sp>
        <p:nvSpPr>
          <p:cNvPr id="11" name="Text 9"/>
          <p:cNvSpPr/>
          <p:nvPr/>
        </p:nvSpPr>
        <p:spPr>
          <a:xfrm>
            <a:off x="685800" y="2029968"/>
            <a:ext cx="2194560" cy="320040"/>
          </a:xfrm>
          <a:prstGeom prst="rect">
            <a:avLst/>
          </a:prstGeom>
          <a:noFill/>
          <a:ln/>
        </p:spPr>
        <p:txBody>
          <a:bodyPr wrap="square" lIns="0" tIns="0" rIns="0" bIns="0" rtlCol="0" anchor="t"/>
          <a:lstStyle/>
          <a:p>
            <a:pPr indent="0" marL="0">
              <a:buNone/>
            </a:pPr>
            <a:r>
              <a:rPr lang="en-US" sz="1700" dirty="0">
                <a:solidFill>
                  <a:srgbClr val="1A2233"/>
                </a:solidFill>
                <a:latin typeface="Calibri Light" pitchFamily="34" charset="0"/>
                <a:ea typeface="Calibri Light" pitchFamily="34" charset="-122"/>
                <a:cs typeface="Calibri Light" pitchFamily="34" charset="-120"/>
              </a:rPr>
              <a:t>Capital asset</a:t>
            </a:r>
            <a:endParaRPr lang="en-US" sz="1700" dirty="0"/>
          </a:p>
        </p:txBody>
      </p:sp>
      <p:sp>
        <p:nvSpPr>
          <p:cNvPr id="12" name="Text 10"/>
          <p:cNvSpPr/>
          <p:nvPr/>
        </p:nvSpPr>
        <p:spPr>
          <a:xfrm>
            <a:off x="685800" y="2423160"/>
            <a:ext cx="2194560" cy="1234440"/>
          </a:xfrm>
          <a:prstGeom prst="rect">
            <a:avLst/>
          </a:prstGeom>
          <a:noFill/>
          <a:ln/>
        </p:spPr>
        <p:txBody>
          <a:bodyPr wrap="square" lIns="0" tIns="0" rIns="0" bIns="0" rtlCol="0" anchor="t"/>
          <a:lstStyle/>
          <a:p>
            <a:pPr indent="0" marL="0">
              <a:lnSpc>
                <a:spcPct val="108000"/>
              </a:lnSpc>
              <a:buNone/>
            </a:pPr>
            <a:r>
              <a:rPr lang="en-US" sz="1050" dirty="0">
                <a:solidFill>
                  <a:srgbClr val="1A2233"/>
                </a:solidFill>
                <a:latin typeface="Calibri" pitchFamily="34" charset="0"/>
                <a:ea typeface="Calibri" pitchFamily="34" charset="-122"/>
                <a:cs typeface="Calibri" pitchFamily="34" charset="-120"/>
              </a:rPr>
              <a:t>The company decides which data it considers a capital asset to compound context reasoning on, and which data is not strategic and does not require trade-secret protection.</a:t>
            </a:r>
            <a:endParaRPr lang="en-US" sz="1050" dirty="0"/>
          </a:p>
        </p:txBody>
      </p:sp>
      <p:sp>
        <p:nvSpPr>
          <p:cNvPr id="13" name="Shape 11"/>
          <p:cNvSpPr/>
          <p:nvPr/>
        </p:nvSpPr>
        <p:spPr>
          <a:xfrm>
            <a:off x="3246120" y="1600200"/>
            <a:ext cx="2606040" cy="2103120"/>
          </a:xfrm>
          <a:prstGeom prst="rect">
            <a:avLst/>
          </a:prstGeom>
          <a:solidFill>
            <a:srgbClr val="F1F4F7"/>
          </a:solidFill>
          <a:ln w="9525">
            <a:solidFill>
              <a:srgbClr val="DDE1E6"/>
            </a:solidFill>
            <a:prstDash val="solid"/>
          </a:ln>
        </p:spPr>
      </p:sp>
      <p:sp>
        <p:nvSpPr>
          <p:cNvPr id="14" name="Text 12"/>
          <p:cNvSpPr/>
          <p:nvPr/>
        </p:nvSpPr>
        <p:spPr>
          <a:xfrm>
            <a:off x="3474720" y="1755648"/>
            <a:ext cx="914400" cy="274320"/>
          </a:xfrm>
          <a:prstGeom prst="rect">
            <a:avLst/>
          </a:prstGeom>
          <a:noFill/>
          <a:ln/>
        </p:spPr>
        <p:txBody>
          <a:bodyPr wrap="square" lIns="0" tIns="0" rIns="0" bIns="0" rtlCol="0" anchor="t"/>
          <a:lstStyle/>
          <a:p>
            <a:pPr indent="0" marL="0">
              <a:buNone/>
            </a:pPr>
            <a:r>
              <a:rPr lang="en-US" sz="1200" b="1" dirty="0">
                <a:solidFill>
                  <a:srgbClr val="C1272D"/>
                </a:solidFill>
                <a:latin typeface="Calibri" pitchFamily="34" charset="0"/>
                <a:ea typeface="Calibri" pitchFamily="34" charset="-122"/>
                <a:cs typeface="Calibri" pitchFamily="34" charset="-120"/>
              </a:rPr>
              <a:t>02</a:t>
            </a:r>
            <a:endParaRPr lang="en-US" sz="1200" dirty="0"/>
          </a:p>
        </p:txBody>
      </p:sp>
      <p:sp>
        <p:nvSpPr>
          <p:cNvPr id="15" name="Text 13"/>
          <p:cNvSpPr/>
          <p:nvPr/>
        </p:nvSpPr>
        <p:spPr>
          <a:xfrm>
            <a:off x="3474720" y="2029968"/>
            <a:ext cx="2194560" cy="320040"/>
          </a:xfrm>
          <a:prstGeom prst="rect">
            <a:avLst/>
          </a:prstGeom>
          <a:noFill/>
          <a:ln/>
        </p:spPr>
        <p:txBody>
          <a:bodyPr wrap="square" lIns="0" tIns="0" rIns="0" bIns="0" rtlCol="0" anchor="t"/>
          <a:lstStyle/>
          <a:p>
            <a:pPr indent="0" marL="0">
              <a:buNone/>
            </a:pPr>
            <a:r>
              <a:rPr lang="en-US" sz="1700" dirty="0">
                <a:solidFill>
                  <a:srgbClr val="1A2233"/>
                </a:solidFill>
                <a:latin typeface="Calibri Light" pitchFamily="34" charset="0"/>
                <a:ea typeface="Calibri Light" pitchFamily="34" charset="-122"/>
                <a:cs typeface="Calibri Light" pitchFamily="34" charset="-120"/>
              </a:rPr>
              <a:t>Data sovereignty</a:t>
            </a:r>
            <a:endParaRPr lang="en-US" sz="1700" dirty="0"/>
          </a:p>
        </p:txBody>
      </p:sp>
      <p:sp>
        <p:nvSpPr>
          <p:cNvPr id="16" name="Text 14"/>
          <p:cNvSpPr/>
          <p:nvPr/>
        </p:nvSpPr>
        <p:spPr>
          <a:xfrm>
            <a:off x="3474720" y="2423160"/>
            <a:ext cx="2194560" cy="1234440"/>
          </a:xfrm>
          <a:prstGeom prst="rect">
            <a:avLst/>
          </a:prstGeom>
          <a:noFill/>
          <a:ln/>
        </p:spPr>
        <p:txBody>
          <a:bodyPr wrap="square" lIns="0" tIns="0" rIns="0" bIns="0" rtlCol="0" anchor="t"/>
          <a:lstStyle/>
          <a:p>
            <a:pPr indent="0" marL="0">
              <a:lnSpc>
                <a:spcPct val="108000"/>
              </a:lnSpc>
              <a:buNone/>
            </a:pPr>
            <a:r>
              <a:rPr lang="en-US" sz="1050" dirty="0">
                <a:solidFill>
                  <a:srgbClr val="1A2233"/>
                </a:solidFill>
                <a:latin typeface="Calibri" pitchFamily="34" charset="0"/>
                <a:ea typeface="Calibri" pitchFamily="34" charset="-122"/>
                <a:cs typeface="Calibri" pitchFamily="34" charset="-120"/>
              </a:rPr>
              <a:t>The organization retains full control over the program’s records, source references, decision rationale, permissions, and evidence at all times.</a:t>
            </a:r>
            <a:endParaRPr lang="en-US" sz="1050" dirty="0"/>
          </a:p>
        </p:txBody>
      </p:sp>
      <p:sp>
        <p:nvSpPr>
          <p:cNvPr id="17" name="Shape 15"/>
          <p:cNvSpPr/>
          <p:nvPr/>
        </p:nvSpPr>
        <p:spPr>
          <a:xfrm>
            <a:off x="6035040" y="1600200"/>
            <a:ext cx="2606040" cy="2103120"/>
          </a:xfrm>
          <a:prstGeom prst="rect">
            <a:avLst/>
          </a:prstGeom>
          <a:solidFill>
            <a:srgbClr val="F1F4F7"/>
          </a:solidFill>
          <a:ln w="9525">
            <a:solidFill>
              <a:srgbClr val="DDE1E6"/>
            </a:solidFill>
            <a:prstDash val="solid"/>
          </a:ln>
        </p:spPr>
      </p:sp>
      <p:sp>
        <p:nvSpPr>
          <p:cNvPr id="18" name="Text 16"/>
          <p:cNvSpPr/>
          <p:nvPr/>
        </p:nvSpPr>
        <p:spPr>
          <a:xfrm>
            <a:off x="6263640" y="1755648"/>
            <a:ext cx="914400" cy="274320"/>
          </a:xfrm>
          <a:prstGeom prst="rect">
            <a:avLst/>
          </a:prstGeom>
          <a:noFill/>
          <a:ln/>
        </p:spPr>
        <p:txBody>
          <a:bodyPr wrap="square" lIns="0" tIns="0" rIns="0" bIns="0" rtlCol="0" anchor="t"/>
          <a:lstStyle/>
          <a:p>
            <a:pPr indent="0" marL="0">
              <a:buNone/>
            </a:pPr>
            <a:r>
              <a:rPr lang="en-US" sz="1200" b="1" dirty="0">
                <a:solidFill>
                  <a:srgbClr val="C1272D"/>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6263640" y="2029968"/>
            <a:ext cx="2194560" cy="320040"/>
          </a:xfrm>
          <a:prstGeom prst="rect">
            <a:avLst/>
          </a:prstGeom>
          <a:noFill/>
          <a:ln/>
        </p:spPr>
        <p:txBody>
          <a:bodyPr wrap="square" lIns="0" tIns="0" rIns="0" bIns="0" rtlCol="0" anchor="t"/>
          <a:lstStyle/>
          <a:p>
            <a:pPr indent="0" marL="0">
              <a:buNone/>
            </a:pPr>
            <a:r>
              <a:rPr lang="en-US" sz="1700" dirty="0">
                <a:solidFill>
                  <a:srgbClr val="1A2233"/>
                </a:solidFill>
                <a:latin typeface="Calibri Light" pitchFamily="34" charset="0"/>
                <a:ea typeface="Calibri Light" pitchFamily="34" charset="-122"/>
                <a:cs typeface="Calibri Light" pitchFamily="34" charset="-120"/>
              </a:rPr>
              <a:t>Retention</a:t>
            </a:r>
            <a:endParaRPr lang="en-US" sz="1700" dirty="0"/>
          </a:p>
        </p:txBody>
      </p:sp>
      <p:sp>
        <p:nvSpPr>
          <p:cNvPr id="20" name="Text 18"/>
          <p:cNvSpPr/>
          <p:nvPr/>
        </p:nvSpPr>
        <p:spPr>
          <a:xfrm>
            <a:off x="6263640" y="2423160"/>
            <a:ext cx="2194560" cy="1234440"/>
          </a:xfrm>
          <a:prstGeom prst="rect">
            <a:avLst/>
          </a:prstGeom>
          <a:noFill/>
          <a:ln/>
        </p:spPr>
        <p:txBody>
          <a:bodyPr wrap="square" lIns="0" tIns="0" rIns="0" bIns="0" rtlCol="0" anchor="t"/>
          <a:lstStyle/>
          <a:p>
            <a:pPr indent="0" marL="0">
              <a:lnSpc>
                <a:spcPct val="108000"/>
              </a:lnSpc>
              <a:buNone/>
            </a:pPr>
            <a:r>
              <a:rPr lang="en-US" sz="1050" dirty="0">
                <a:solidFill>
                  <a:srgbClr val="1A2233"/>
                </a:solidFill>
                <a:latin typeface="Calibri" pitchFamily="34" charset="0"/>
                <a:ea typeface="Calibri" pitchFamily="34" charset="-122"/>
                <a:cs typeface="Calibri" pitchFamily="34" charset="-120"/>
              </a:rPr>
              <a:t>The organization retains and owns the repository once the program concludes; it is not retained, reused, or accessed by any external party after the SAP programme ends.</a:t>
            </a:r>
            <a:endParaRPr lang="en-US" sz="1050" dirty="0"/>
          </a:p>
        </p:txBody>
      </p:sp>
      <p:sp>
        <p:nvSpPr>
          <p:cNvPr id="21" name="Shape 19"/>
          <p:cNvSpPr/>
          <p:nvPr/>
        </p:nvSpPr>
        <p:spPr>
          <a:xfrm>
            <a:off x="457200" y="3886200"/>
            <a:ext cx="8183880" cy="749808"/>
          </a:xfrm>
          <a:prstGeom prst="rect">
            <a:avLst/>
          </a:prstGeom>
          <a:solidFill>
            <a:srgbClr val="1A2233"/>
          </a:solidFill>
          <a:ln w="12700">
            <a:solidFill>
              <a:srgbClr val="1A2233"/>
            </a:solidFill>
            <a:prstDash val="solid"/>
          </a:ln>
        </p:spPr>
      </p:sp>
      <p:sp>
        <p:nvSpPr>
          <p:cNvPr id="22" name="Text 20"/>
          <p:cNvSpPr/>
          <p:nvPr/>
        </p:nvSpPr>
        <p:spPr>
          <a:xfrm>
            <a:off x="685800" y="3886200"/>
            <a:ext cx="7772400" cy="749808"/>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Binding condition of the model. </a:t>
            </a:r>
            <a:r>
              <a:rPr lang="en-US" sz="1150" dirty="0">
                <a:solidFill>
                  <a:srgbClr val="DDE1E6"/>
                </a:solidFill>
                <a:latin typeface="Calibri" pitchFamily="34" charset="0"/>
                <a:ea typeface="Calibri" pitchFamily="34" charset="-122"/>
                <a:cs typeface="Calibri" pitchFamily="34" charset="-120"/>
              </a:rPr>
              <a:t>Context reasoning is not pooled or reused across organizations: it builds and stays within the domain of the organization implementing the Decision Intelligence PMO model.</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HOW THE MODEL IS APPLIED</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Three steps, fitted to where the company stands</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4</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554480"/>
            <a:ext cx="2697480" cy="457200"/>
          </a:xfrm>
          <a:prstGeom prst="chevron">
            <a:avLst/>
          </a:prstGeom>
          <a:solidFill>
            <a:srgbClr val="C1272D"/>
          </a:solidFill>
          <a:ln w="12700">
            <a:solidFill>
              <a:srgbClr val="FFFFFF"/>
            </a:solidFill>
            <a:prstDash val="solid"/>
          </a:ln>
        </p:spPr>
      </p:sp>
      <p:sp>
        <p:nvSpPr>
          <p:cNvPr id="10" name="Text 8"/>
          <p:cNvSpPr/>
          <p:nvPr/>
        </p:nvSpPr>
        <p:spPr>
          <a:xfrm>
            <a:off x="731520" y="1554480"/>
            <a:ext cx="2103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STEP 1</a:t>
            </a:r>
            <a:endParaRPr lang="en-US" sz="1100" dirty="0"/>
          </a:p>
        </p:txBody>
      </p:sp>
      <p:sp>
        <p:nvSpPr>
          <p:cNvPr id="11" name="Text 9"/>
          <p:cNvSpPr/>
          <p:nvPr/>
        </p:nvSpPr>
        <p:spPr>
          <a:xfrm>
            <a:off x="502920" y="2121408"/>
            <a:ext cx="2560320" cy="548640"/>
          </a:xfrm>
          <a:prstGeom prst="rect">
            <a:avLst/>
          </a:prstGeom>
          <a:noFill/>
          <a:ln/>
        </p:spPr>
        <p:txBody>
          <a:bodyPr wrap="square" lIns="0" tIns="0" rIns="0" bIns="0" rtlCol="0" anchor="t"/>
          <a:lstStyle/>
          <a:p>
            <a:pPr indent="0" marL="0">
              <a:buNone/>
            </a:pPr>
            <a:r>
              <a:rPr lang="en-US" sz="1500" dirty="0">
                <a:solidFill>
                  <a:srgbClr val="1A2233"/>
                </a:solidFill>
                <a:latin typeface="Calibri Light" pitchFamily="34" charset="0"/>
                <a:ea typeface="Calibri Light" pitchFamily="34" charset="-122"/>
                <a:cs typeface="Calibri Light" pitchFamily="34" charset="-120"/>
              </a:rPr>
              <a:t>Capability maturity assessment</a:t>
            </a:r>
            <a:endParaRPr lang="en-US" sz="1500" dirty="0"/>
          </a:p>
        </p:txBody>
      </p:sp>
      <p:sp>
        <p:nvSpPr>
          <p:cNvPr id="12" name="Text 10"/>
          <p:cNvSpPr/>
          <p:nvPr/>
        </p:nvSpPr>
        <p:spPr>
          <a:xfrm>
            <a:off x="502920" y="2697480"/>
            <a:ext cx="2560320" cy="914400"/>
          </a:xfrm>
          <a:prstGeom prst="rect">
            <a:avLst/>
          </a:prstGeom>
          <a:noFill/>
          <a:ln/>
        </p:spPr>
        <p:txBody>
          <a:bodyPr wrap="square" lIns="0" tIns="0" rIns="0" bIns="0" rtlCol="0" anchor="t"/>
          <a:lstStyle/>
          <a:p>
            <a:pPr indent="0" marL="0">
              <a:lnSpc>
                <a:spcPct val="105000"/>
              </a:lnSpc>
              <a:buNone/>
            </a:pPr>
            <a:r>
              <a:rPr lang="en-US" sz="1050" dirty="0">
                <a:solidFill>
                  <a:srgbClr val="676A75"/>
                </a:solidFill>
                <a:latin typeface="Calibri" pitchFamily="34" charset="0"/>
                <a:ea typeface="Calibri" pitchFamily="34" charset="-122"/>
                <a:cs typeface="Calibri" pitchFamily="34" charset="-120"/>
              </a:rPr>
              <a:t>Establishes the factual program blueprint before tools, methods, staffing models, implementation plans, or third-party products are proposed.</a:t>
            </a:r>
            <a:endParaRPr lang="en-US" sz="1050" dirty="0"/>
          </a:p>
        </p:txBody>
      </p:sp>
      <p:sp>
        <p:nvSpPr>
          <p:cNvPr id="13" name="Shape 11"/>
          <p:cNvSpPr/>
          <p:nvPr/>
        </p:nvSpPr>
        <p:spPr>
          <a:xfrm>
            <a:off x="3246120" y="1554480"/>
            <a:ext cx="2697480" cy="457200"/>
          </a:xfrm>
          <a:prstGeom prst="chevron">
            <a:avLst/>
          </a:prstGeom>
          <a:solidFill>
            <a:srgbClr val="1A2233"/>
          </a:solidFill>
          <a:ln w="12700">
            <a:solidFill>
              <a:srgbClr val="FFFFFF"/>
            </a:solidFill>
            <a:prstDash val="solid"/>
          </a:ln>
        </p:spPr>
      </p:sp>
      <p:sp>
        <p:nvSpPr>
          <p:cNvPr id="14" name="Text 12"/>
          <p:cNvSpPr/>
          <p:nvPr/>
        </p:nvSpPr>
        <p:spPr>
          <a:xfrm>
            <a:off x="3520440" y="1554480"/>
            <a:ext cx="2103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STEP 2</a:t>
            </a:r>
            <a:endParaRPr lang="en-US" sz="1100" dirty="0"/>
          </a:p>
        </p:txBody>
      </p:sp>
      <p:sp>
        <p:nvSpPr>
          <p:cNvPr id="15" name="Text 13"/>
          <p:cNvSpPr/>
          <p:nvPr/>
        </p:nvSpPr>
        <p:spPr>
          <a:xfrm>
            <a:off x="3291840" y="2121408"/>
            <a:ext cx="2560320" cy="548640"/>
          </a:xfrm>
          <a:prstGeom prst="rect">
            <a:avLst/>
          </a:prstGeom>
          <a:noFill/>
          <a:ln/>
        </p:spPr>
        <p:txBody>
          <a:bodyPr wrap="square" lIns="0" tIns="0" rIns="0" bIns="0" rtlCol="0" anchor="t"/>
          <a:lstStyle/>
          <a:p>
            <a:pPr indent="0" marL="0">
              <a:buNone/>
            </a:pPr>
            <a:r>
              <a:rPr lang="en-US" sz="1500" dirty="0">
                <a:solidFill>
                  <a:srgbClr val="1A2233"/>
                </a:solidFill>
                <a:latin typeface="Calibri Light" pitchFamily="34" charset="0"/>
                <a:ea typeface="Calibri Light" pitchFamily="34" charset="-122"/>
                <a:cs typeface="Calibri Light" pitchFamily="34" charset="-120"/>
              </a:rPr>
              <a:t>Governance setup — central program repository</a:t>
            </a:r>
            <a:endParaRPr lang="en-US" sz="1500" dirty="0"/>
          </a:p>
        </p:txBody>
      </p:sp>
      <p:sp>
        <p:nvSpPr>
          <p:cNvPr id="16" name="Text 14"/>
          <p:cNvSpPr/>
          <p:nvPr/>
        </p:nvSpPr>
        <p:spPr>
          <a:xfrm>
            <a:off x="3291840" y="2697480"/>
            <a:ext cx="2560320" cy="914400"/>
          </a:xfrm>
          <a:prstGeom prst="rect">
            <a:avLst/>
          </a:prstGeom>
          <a:noFill/>
          <a:ln/>
        </p:spPr>
        <p:txBody>
          <a:bodyPr wrap="square" lIns="0" tIns="0" rIns="0" bIns="0" rtlCol="0" anchor="t"/>
          <a:lstStyle/>
          <a:p>
            <a:pPr indent="0" marL="0">
              <a:lnSpc>
                <a:spcPct val="105000"/>
              </a:lnSpc>
              <a:buNone/>
            </a:pPr>
            <a:r>
              <a:rPr lang="en-US" sz="1050" dirty="0">
                <a:solidFill>
                  <a:srgbClr val="676A75"/>
                </a:solidFill>
                <a:latin typeface="Calibri" pitchFamily="34" charset="0"/>
                <a:ea typeface="Calibri" pitchFamily="34" charset="-122"/>
                <a:cs typeface="Calibri" pitchFamily="34" charset="-120"/>
              </a:rPr>
              <a:t>A company-owned repository that provides a common program record across existing tools.</a:t>
            </a:r>
            <a:endParaRPr lang="en-US" sz="1050" dirty="0"/>
          </a:p>
        </p:txBody>
      </p:sp>
      <p:sp>
        <p:nvSpPr>
          <p:cNvPr id="17" name="Shape 15"/>
          <p:cNvSpPr/>
          <p:nvPr/>
        </p:nvSpPr>
        <p:spPr>
          <a:xfrm>
            <a:off x="6035040" y="1554480"/>
            <a:ext cx="2697480" cy="457200"/>
          </a:xfrm>
          <a:prstGeom prst="chevron">
            <a:avLst/>
          </a:prstGeom>
          <a:solidFill>
            <a:srgbClr val="1A2233"/>
          </a:solidFill>
          <a:ln w="12700">
            <a:solidFill>
              <a:srgbClr val="FFFFFF"/>
            </a:solidFill>
            <a:prstDash val="solid"/>
          </a:ln>
        </p:spPr>
      </p:sp>
      <p:sp>
        <p:nvSpPr>
          <p:cNvPr id="18" name="Text 16"/>
          <p:cNvSpPr/>
          <p:nvPr/>
        </p:nvSpPr>
        <p:spPr>
          <a:xfrm>
            <a:off x="6309360" y="1554480"/>
            <a:ext cx="2103120" cy="457200"/>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Calibri" pitchFamily="34" charset="0"/>
                <a:ea typeface="Calibri" pitchFamily="34" charset="-122"/>
                <a:cs typeface="Calibri" pitchFamily="34" charset="-120"/>
              </a:rPr>
              <a:t>STEP 3</a:t>
            </a:r>
            <a:endParaRPr lang="en-US" sz="1100" dirty="0"/>
          </a:p>
        </p:txBody>
      </p:sp>
      <p:sp>
        <p:nvSpPr>
          <p:cNvPr id="19" name="Text 17"/>
          <p:cNvSpPr/>
          <p:nvPr/>
        </p:nvSpPr>
        <p:spPr>
          <a:xfrm>
            <a:off x="6080760" y="2121408"/>
            <a:ext cx="2560320" cy="548640"/>
          </a:xfrm>
          <a:prstGeom prst="rect">
            <a:avLst/>
          </a:prstGeom>
          <a:noFill/>
          <a:ln/>
        </p:spPr>
        <p:txBody>
          <a:bodyPr wrap="square" lIns="0" tIns="0" rIns="0" bIns="0" rtlCol="0" anchor="t"/>
          <a:lstStyle/>
          <a:p>
            <a:pPr indent="0" marL="0">
              <a:buNone/>
            </a:pPr>
            <a:r>
              <a:rPr lang="en-US" sz="1500" dirty="0">
                <a:solidFill>
                  <a:srgbClr val="1A2233"/>
                </a:solidFill>
                <a:latin typeface="Calibri Light" pitchFamily="34" charset="0"/>
                <a:ea typeface="Calibri Light" pitchFamily="34" charset="-122"/>
                <a:cs typeface="Calibri Light" pitchFamily="34" charset="-120"/>
              </a:rPr>
              <a:t>Program execution</a:t>
            </a:r>
            <a:endParaRPr lang="en-US" sz="1500" dirty="0"/>
          </a:p>
        </p:txBody>
      </p:sp>
      <p:sp>
        <p:nvSpPr>
          <p:cNvPr id="20" name="Text 18"/>
          <p:cNvSpPr/>
          <p:nvPr/>
        </p:nvSpPr>
        <p:spPr>
          <a:xfrm>
            <a:off x="6080760" y="2697480"/>
            <a:ext cx="2560320" cy="914400"/>
          </a:xfrm>
          <a:prstGeom prst="rect">
            <a:avLst/>
          </a:prstGeom>
          <a:noFill/>
          <a:ln/>
        </p:spPr>
        <p:txBody>
          <a:bodyPr wrap="square" lIns="0" tIns="0" rIns="0" bIns="0" rtlCol="0" anchor="t"/>
          <a:lstStyle/>
          <a:p>
            <a:pPr indent="0" marL="0">
              <a:lnSpc>
                <a:spcPct val="105000"/>
              </a:lnSpc>
              <a:buNone/>
            </a:pPr>
            <a:r>
              <a:rPr lang="en-US" sz="1050" dirty="0">
                <a:solidFill>
                  <a:srgbClr val="676A75"/>
                </a:solidFill>
                <a:latin typeface="Calibri" pitchFamily="34" charset="0"/>
                <a:ea typeface="Calibri" pitchFamily="34" charset="-122"/>
                <a:cs typeface="Calibri" pitchFamily="34" charset="-120"/>
              </a:rPr>
              <a:t>Complements and accelerates Transformation and SAP Activate methods and tools by making program knowledge available in a reusable, governed form.</a:t>
            </a:r>
            <a:endParaRPr lang="en-US" sz="1050" dirty="0"/>
          </a:p>
        </p:txBody>
      </p:sp>
      <p:sp>
        <p:nvSpPr>
          <p:cNvPr id="21" name="Shape 19"/>
          <p:cNvSpPr/>
          <p:nvPr/>
        </p:nvSpPr>
        <p:spPr>
          <a:xfrm>
            <a:off x="457200" y="3675888"/>
            <a:ext cx="8183880" cy="987552"/>
          </a:xfrm>
          <a:prstGeom prst="rect">
            <a:avLst/>
          </a:prstGeom>
          <a:solidFill>
            <a:srgbClr val="F1F4F7"/>
          </a:solidFill>
          <a:ln w="9525">
            <a:solidFill>
              <a:srgbClr val="DDE1E6"/>
            </a:solidFill>
            <a:prstDash val="solid"/>
          </a:ln>
        </p:spPr>
      </p:sp>
      <p:sp>
        <p:nvSpPr>
          <p:cNvPr id="22" name="Text 20"/>
          <p:cNvSpPr/>
          <p:nvPr/>
        </p:nvSpPr>
        <p:spPr>
          <a:xfrm>
            <a:off x="640080" y="3749040"/>
            <a:ext cx="3657600" cy="201168"/>
          </a:xfrm>
          <a:prstGeom prst="rect">
            <a:avLst/>
          </a:prstGeom>
          <a:noFill/>
          <a:ln/>
        </p:spPr>
        <p:txBody>
          <a:bodyPr wrap="square" lIns="0" tIns="0" rIns="0" bIns="0" rtlCol="0" anchor="t"/>
          <a:lstStyle/>
          <a:p>
            <a:pPr indent="0" marL="0">
              <a:buNone/>
            </a:pPr>
            <a:r>
              <a:rPr lang="en-US" sz="900" b="1" spc="100" kern="0" dirty="0">
                <a:solidFill>
                  <a:srgbClr val="C1272D"/>
                </a:solidFill>
                <a:latin typeface="Calibri" pitchFamily="34" charset="0"/>
                <a:ea typeface="Calibri" pitchFamily="34" charset="-122"/>
                <a:cs typeface="Calibri" pitchFamily="34" charset="-120"/>
              </a:rPr>
              <a:t>WHERE THE COMPANY STANDS</a:t>
            </a:r>
            <a:endParaRPr lang="en-US" sz="900" dirty="0"/>
          </a:p>
        </p:txBody>
      </p:sp>
      <p:sp>
        <p:nvSpPr>
          <p:cNvPr id="23" name="Text 21"/>
          <p:cNvSpPr/>
          <p:nvPr/>
        </p:nvSpPr>
        <p:spPr>
          <a:xfrm>
            <a:off x="640080" y="3968496"/>
            <a:ext cx="2514600" cy="219456"/>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Starting from scratch</a:t>
            </a:r>
            <a:endParaRPr lang="en-US" sz="1100" dirty="0"/>
          </a:p>
        </p:txBody>
      </p:sp>
      <p:sp>
        <p:nvSpPr>
          <p:cNvPr id="24" name="Text 22"/>
          <p:cNvSpPr/>
          <p:nvPr/>
        </p:nvSpPr>
        <p:spPr>
          <a:xfrm>
            <a:off x="640080" y="4187952"/>
            <a:ext cx="2514600" cy="457200"/>
          </a:xfrm>
          <a:prstGeom prst="rect">
            <a:avLst/>
          </a:prstGeom>
          <a:noFill/>
          <a:ln/>
        </p:spPr>
        <p:txBody>
          <a:bodyPr wrap="square" lIns="0" tIns="0" rIns="0" bIns="0" rtlCol="0" anchor="t"/>
          <a:lstStyle/>
          <a:p>
            <a:pPr indent="0" marL="0">
              <a:buNone/>
            </a:pPr>
            <a:r>
              <a:rPr lang="en-US" sz="950" dirty="0">
                <a:solidFill>
                  <a:srgbClr val="676A75"/>
                </a:solidFill>
                <a:latin typeface="Calibri" pitchFamily="34" charset="0"/>
                <a:ea typeface="Calibri" pitchFamily="34" charset="-122"/>
                <a:cs typeface="Calibri" pitchFamily="34" charset="-120"/>
              </a:rPr>
              <a:t>Establishes the initial programme blueprint and assesses whether methods and tools in place are fit for purpose.</a:t>
            </a:r>
            <a:endParaRPr lang="en-US" sz="950" dirty="0"/>
          </a:p>
        </p:txBody>
      </p:sp>
      <p:sp>
        <p:nvSpPr>
          <p:cNvPr id="25" name="Text 23"/>
          <p:cNvSpPr/>
          <p:nvPr/>
        </p:nvSpPr>
        <p:spPr>
          <a:xfrm>
            <a:off x="3337560" y="3968496"/>
            <a:ext cx="2514600" cy="219456"/>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Already underway</a:t>
            </a:r>
            <a:endParaRPr lang="en-US" sz="1100" dirty="0"/>
          </a:p>
        </p:txBody>
      </p:sp>
      <p:sp>
        <p:nvSpPr>
          <p:cNvPr id="26" name="Text 24"/>
          <p:cNvSpPr/>
          <p:nvPr/>
        </p:nvSpPr>
        <p:spPr>
          <a:xfrm>
            <a:off x="3337560" y="4187952"/>
            <a:ext cx="2514600" cy="457200"/>
          </a:xfrm>
          <a:prstGeom prst="rect">
            <a:avLst/>
          </a:prstGeom>
          <a:noFill/>
          <a:ln/>
        </p:spPr>
        <p:txBody>
          <a:bodyPr wrap="square" lIns="0" tIns="0" rIns="0" bIns="0" rtlCol="0" anchor="t"/>
          <a:lstStyle/>
          <a:p>
            <a:pPr indent="0" marL="0">
              <a:buNone/>
            </a:pPr>
            <a:r>
              <a:rPr lang="en-US" sz="950" dirty="0">
                <a:solidFill>
                  <a:srgbClr val="676A75"/>
                </a:solidFill>
                <a:latin typeface="Calibri" pitchFamily="34" charset="0"/>
                <a:ea typeface="Calibri" pitchFamily="34" charset="-122"/>
                <a:cs typeface="Calibri" pitchFamily="34" charset="-120"/>
              </a:rPr>
              <a:t>Inventories the PMO, governance and decisions already taken; execution does not restart at Mobilization.</a:t>
            </a:r>
            <a:endParaRPr lang="en-US" sz="950" dirty="0"/>
          </a:p>
        </p:txBody>
      </p:sp>
      <p:sp>
        <p:nvSpPr>
          <p:cNvPr id="27" name="Text 25"/>
          <p:cNvSpPr/>
          <p:nvPr/>
        </p:nvSpPr>
        <p:spPr>
          <a:xfrm>
            <a:off x="6035040" y="3968496"/>
            <a:ext cx="2514600" cy="219456"/>
          </a:xfrm>
          <a:prstGeom prst="rect">
            <a:avLst/>
          </a:prstGeom>
          <a:noFill/>
          <a:ln/>
        </p:spPr>
        <p:txBody>
          <a:bodyPr wrap="square" lIns="0" tIns="0" rIns="0" bIns="0" rtlCol="0" anchor="t"/>
          <a:lstStyle/>
          <a:p>
            <a:pPr indent="0" marL="0">
              <a:buNone/>
            </a:pPr>
            <a:r>
              <a:rPr lang="en-US" sz="1100" b="1" dirty="0">
                <a:solidFill>
                  <a:srgbClr val="1A2233"/>
                </a:solidFill>
                <a:latin typeface="Calibri" pitchFamily="34" charset="0"/>
                <a:ea typeface="Calibri" pitchFamily="34" charset="-122"/>
                <a:cs typeface="Calibri" pitchFamily="34" charset="-120"/>
              </a:rPr>
              <a:t>Standalone service</a:t>
            </a:r>
            <a:endParaRPr lang="en-US" sz="1100" dirty="0"/>
          </a:p>
        </p:txBody>
      </p:sp>
      <p:sp>
        <p:nvSpPr>
          <p:cNvPr id="28" name="Text 26"/>
          <p:cNvSpPr/>
          <p:nvPr/>
        </p:nvSpPr>
        <p:spPr>
          <a:xfrm>
            <a:off x="6035040" y="4187952"/>
            <a:ext cx="2514600" cy="457200"/>
          </a:xfrm>
          <a:prstGeom prst="rect">
            <a:avLst/>
          </a:prstGeom>
          <a:noFill/>
          <a:ln/>
        </p:spPr>
        <p:txBody>
          <a:bodyPr wrap="square" lIns="0" tIns="0" rIns="0" bIns="0" rtlCol="0" anchor="t"/>
          <a:lstStyle/>
          <a:p>
            <a:pPr indent="0" marL="0">
              <a:buNone/>
            </a:pPr>
            <a:r>
              <a:rPr lang="en-US" sz="950" dirty="0">
                <a:solidFill>
                  <a:srgbClr val="676A75"/>
                </a:solidFill>
                <a:latin typeface="Calibri" pitchFamily="34" charset="0"/>
                <a:ea typeface="Calibri" pitchFamily="34" charset="-122"/>
                <a:cs typeface="Calibri" pitchFamily="34" charset="-120"/>
              </a:rPr>
              <a:t>The assessment can also be offered on its own, as due diligence, scope confirmation and planning support.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STEP 3 — PROGRAM EXECUTION</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Where the framework and approved AI tools help, by phase</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5</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536192"/>
            <a:ext cx="1965960" cy="1536192"/>
          </a:xfrm>
          <a:prstGeom prst="rect">
            <a:avLst/>
          </a:prstGeom>
          <a:solidFill>
            <a:srgbClr val="F1F4F7"/>
          </a:solidFill>
          <a:ln w="9525">
            <a:solidFill>
              <a:srgbClr val="DDE1E6"/>
            </a:solidFill>
            <a:prstDash val="solid"/>
          </a:ln>
        </p:spPr>
      </p:sp>
      <p:sp>
        <p:nvSpPr>
          <p:cNvPr id="10" name="Text 8"/>
          <p:cNvSpPr/>
          <p:nvPr/>
        </p:nvSpPr>
        <p:spPr>
          <a:xfrm>
            <a:off x="594360" y="1645920"/>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01</a:t>
            </a:r>
            <a:endParaRPr lang="en-US" sz="950" dirty="0"/>
          </a:p>
        </p:txBody>
      </p:sp>
      <p:sp>
        <p:nvSpPr>
          <p:cNvPr id="11" name="Text 9"/>
          <p:cNvSpPr/>
          <p:nvPr/>
        </p:nvSpPr>
        <p:spPr>
          <a:xfrm>
            <a:off x="594360" y="1847088"/>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Pre-mobilization</a:t>
            </a:r>
            <a:endParaRPr lang="en-US" sz="1150" dirty="0"/>
          </a:p>
        </p:txBody>
      </p:sp>
      <p:sp>
        <p:nvSpPr>
          <p:cNvPr id="12" name="Text 10"/>
          <p:cNvSpPr/>
          <p:nvPr/>
        </p:nvSpPr>
        <p:spPr>
          <a:xfrm>
            <a:off x="594360" y="2139696"/>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Assembles internal and public sources into the repository; drafts the regulatory landscape and capability-gap view for human review.</a:t>
            </a:r>
            <a:endParaRPr lang="en-US" sz="900" dirty="0"/>
          </a:p>
        </p:txBody>
      </p:sp>
      <p:sp>
        <p:nvSpPr>
          <p:cNvPr id="13" name="Shape 11"/>
          <p:cNvSpPr/>
          <p:nvPr/>
        </p:nvSpPr>
        <p:spPr>
          <a:xfrm>
            <a:off x="2514600" y="1536192"/>
            <a:ext cx="1965960" cy="1536192"/>
          </a:xfrm>
          <a:prstGeom prst="rect">
            <a:avLst/>
          </a:prstGeom>
          <a:solidFill>
            <a:srgbClr val="F1F4F7"/>
          </a:solidFill>
          <a:ln w="9525">
            <a:solidFill>
              <a:srgbClr val="DDE1E6"/>
            </a:solidFill>
            <a:prstDash val="solid"/>
          </a:ln>
        </p:spPr>
      </p:sp>
      <p:sp>
        <p:nvSpPr>
          <p:cNvPr id="14" name="Text 12"/>
          <p:cNvSpPr/>
          <p:nvPr/>
        </p:nvSpPr>
        <p:spPr>
          <a:xfrm>
            <a:off x="2651760" y="1645920"/>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02</a:t>
            </a:r>
            <a:endParaRPr lang="en-US" sz="950" dirty="0"/>
          </a:p>
        </p:txBody>
      </p:sp>
      <p:sp>
        <p:nvSpPr>
          <p:cNvPr id="15" name="Text 13"/>
          <p:cNvSpPr/>
          <p:nvPr/>
        </p:nvSpPr>
        <p:spPr>
          <a:xfrm>
            <a:off x="2651760" y="1847088"/>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Mobilization</a:t>
            </a:r>
            <a:endParaRPr lang="en-US" sz="1150" dirty="0"/>
          </a:p>
        </p:txBody>
      </p:sp>
      <p:sp>
        <p:nvSpPr>
          <p:cNvPr id="16" name="Text 14"/>
          <p:cNvSpPr/>
          <p:nvPr/>
        </p:nvSpPr>
        <p:spPr>
          <a:xfrm>
            <a:off x="2651760" y="2139696"/>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Drafts charters, RACI, RAID and the decision register from the maturity assessment; sets up traceability from the first day.</a:t>
            </a:r>
            <a:endParaRPr lang="en-US" sz="900" dirty="0"/>
          </a:p>
        </p:txBody>
      </p:sp>
      <p:sp>
        <p:nvSpPr>
          <p:cNvPr id="17" name="Shape 15"/>
          <p:cNvSpPr/>
          <p:nvPr/>
        </p:nvSpPr>
        <p:spPr>
          <a:xfrm>
            <a:off x="4572000" y="1536192"/>
            <a:ext cx="1965960" cy="1536192"/>
          </a:xfrm>
          <a:prstGeom prst="rect">
            <a:avLst/>
          </a:prstGeom>
          <a:solidFill>
            <a:srgbClr val="F1F4F7"/>
          </a:solidFill>
          <a:ln w="9525">
            <a:solidFill>
              <a:srgbClr val="DDE1E6"/>
            </a:solidFill>
            <a:prstDash val="solid"/>
          </a:ln>
        </p:spPr>
      </p:sp>
      <p:sp>
        <p:nvSpPr>
          <p:cNvPr id="18" name="Text 16"/>
          <p:cNvSpPr/>
          <p:nvPr/>
        </p:nvSpPr>
        <p:spPr>
          <a:xfrm>
            <a:off x="4709160" y="1645920"/>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03</a:t>
            </a:r>
            <a:endParaRPr lang="en-US" sz="950" dirty="0"/>
          </a:p>
        </p:txBody>
      </p:sp>
      <p:sp>
        <p:nvSpPr>
          <p:cNvPr id="19" name="Text 17"/>
          <p:cNvSpPr/>
          <p:nvPr/>
        </p:nvSpPr>
        <p:spPr>
          <a:xfrm>
            <a:off x="4709160" y="1847088"/>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Fit-to-Standard</a:t>
            </a:r>
            <a:endParaRPr lang="en-US" sz="1150" dirty="0"/>
          </a:p>
        </p:txBody>
      </p:sp>
      <p:sp>
        <p:nvSpPr>
          <p:cNvPr id="20" name="Text 18"/>
          <p:cNvSpPr/>
          <p:nvPr/>
        </p:nvSpPr>
        <p:spPr>
          <a:xfrm>
            <a:off x="4709160" y="2139696"/>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Prepares workshop materials from the repository; turns transcripts into attributed decisions, actions and fit-gap entries; flags gaps against standard.</a:t>
            </a:r>
            <a:endParaRPr lang="en-US" sz="900" dirty="0"/>
          </a:p>
        </p:txBody>
      </p:sp>
      <p:sp>
        <p:nvSpPr>
          <p:cNvPr id="21" name="Shape 19"/>
          <p:cNvSpPr/>
          <p:nvPr/>
        </p:nvSpPr>
        <p:spPr>
          <a:xfrm>
            <a:off x="6629400" y="1536192"/>
            <a:ext cx="1965960" cy="1536192"/>
          </a:xfrm>
          <a:prstGeom prst="rect">
            <a:avLst/>
          </a:prstGeom>
          <a:solidFill>
            <a:srgbClr val="F1F4F7"/>
          </a:solidFill>
          <a:ln w="9525">
            <a:solidFill>
              <a:srgbClr val="DDE1E6"/>
            </a:solidFill>
            <a:prstDash val="solid"/>
          </a:ln>
        </p:spPr>
      </p:sp>
      <p:sp>
        <p:nvSpPr>
          <p:cNvPr id="22" name="Text 20"/>
          <p:cNvSpPr/>
          <p:nvPr/>
        </p:nvSpPr>
        <p:spPr>
          <a:xfrm>
            <a:off x="6766560" y="1645920"/>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04</a:t>
            </a:r>
            <a:endParaRPr lang="en-US" sz="950" dirty="0"/>
          </a:p>
        </p:txBody>
      </p:sp>
      <p:sp>
        <p:nvSpPr>
          <p:cNvPr id="23" name="Text 21"/>
          <p:cNvSpPr/>
          <p:nvPr/>
        </p:nvSpPr>
        <p:spPr>
          <a:xfrm>
            <a:off x="6766560" y="1847088"/>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Template and Rollout</a:t>
            </a:r>
            <a:endParaRPr lang="en-US" sz="1150" dirty="0"/>
          </a:p>
        </p:txBody>
      </p:sp>
      <p:sp>
        <p:nvSpPr>
          <p:cNvPr id="24" name="Text 22"/>
          <p:cNvSpPr/>
          <p:nvPr/>
        </p:nvSpPr>
        <p:spPr>
          <a:xfrm>
            <a:off x="6766560" y="2139696"/>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Traces requirements to design, technical objects, test scenarios and cutover; drafts test scenarios from approved requirements.</a:t>
            </a:r>
            <a:endParaRPr lang="en-US" sz="900" dirty="0"/>
          </a:p>
        </p:txBody>
      </p:sp>
      <p:sp>
        <p:nvSpPr>
          <p:cNvPr id="25" name="Shape 23"/>
          <p:cNvSpPr/>
          <p:nvPr/>
        </p:nvSpPr>
        <p:spPr>
          <a:xfrm>
            <a:off x="457200" y="3163824"/>
            <a:ext cx="1965960" cy="1536192"/>
          </a:xfrm>
          <a:prstGeom prst="rect">
            <a:avLst/>
          </a:prstGeom>
          <a:solidFill>
            <a:srgbClr val="F1F4F7"/>
          </a:solidFill>
          <a:ln w="9525">
            <a:solidFill>
              <a:srgbClr val="DDE1E6"/>
            </a:solidFill>
            <a:prstDash val="solid"/>
          </a:ln>
        </p:spPr>
      </p:sp>
      <p:sp>
        <p:nvSpPr>
          <p:cNvPr id="26" name="Text 24"/>
          <p:cNvSpPr/>
          <p:nvPr/>
        </p:nvSpPr>
        <p:spPr>
          <a:xfrm>
            <a:off x="594360" y="3273552"/>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05</a:t>
            </a:r>
            <a:endParaRPr lang="en-US" sz="950" dirty="0"/>
          </a:p>
        </p:txBody>
      </p:sp>
      <p:sp>
        <p:nvSpPr>
          <p:cNvPr id="27" name="Text 25"/>
          <p:cNvSpPr/>
          <p:nvPr/>
        </p:nvSpPr>
        <p:spPr>
          <a:xfrm>
            <a:off x="594360" y="3474720"/>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Change and Adoption</a:t>
            </a:r>
            <a:endParaRPr lang="en-US" sz="1150" dirty="0"/>
          </a:p>
        </p:txBody>
      </p:sp>
      <p:sp>
        <p:nvSpPr>
          <p:cNvPr id="28" name="Text 26"/>
          <p:cNvSpPr/>
          <p:nvPr/>
        </p:nvSpPr>
        <p:spPr>
          <a:xfrm>
            <a:off x="594360" y="3767328"/>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Drafts role-based communications, learning paths and procedures from approved decisions, including training for the AI embedded in the future solution.</a:t>
            </a:r>
            <a:endParaRPr lang="en-US" sz="900" dirty="0"/>
          </a:p>
        </p:txBody>
      </p:sp>
      <p:sp>
        <p:nvSpPr>
          <p:cNvPr id="29" name="Shape 27"/>
          <p:cNvSpPr/>
          <p:nvPr/>
        </p:nvSpPr>
        <p:spPr>
          <a:xfrm>
            <a:off x="2514600" y="3163824"/>
            <a:ext cx="1965960" cy="1536192"/>
          </a:xfrm>
          <a:prstGeom prst="rect">
            <a:avLst/>
          </a:prstGeom>
          <a:solidFill>
            <a:srgbClr val="F1F4F7"/>
          </a:solidFill>
          <a:ln w="9525">
            <a:solidFill>
              <a:srgbClr val="DDE1E6"/>
            </a:solidFill>
            <a:prstDash val="solid"/>
          </a:ln>
        </p:spPr>
      </p:sp>
      <p:sp>
        <p:nvSpPr>
          <p:cNvPr id="30" name="Text 28"/>
          <p:cNvSpPr/>
          <p:nvPr/>
        </p:nvSpPr>
        <p:spPr>
          <a:xfrm>
            <a:off x="2651760" y="3273552"/>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06</a:t>
            </a:r>
            <a:endParaRPr lang="en-US" sz="950" dirty="0"/>
          </a:p>
        </p:txBody>
      </p:sp>
      <p:sp>
        <p:nvSpPr>
          <p:cNvPr id="31" name="Text 29"/>
          <p:cNvSpPr/>
          <p:nvPr/>
        </p:nvSpPr>
        <p:spPr>
          <a:xfrm>
            <a:off x="2651760" y="3474720"/>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Go-Live Stabilization</a:t>
            </a:r>
            <a:endParaRPr lang="en-US" sz="1150" dirty="0"/>
          </a:p>
        </p:txBody>
      </p:sp>
      <p:sp>
        <p:nvSpPr>
          <p:cNvPr id="32" name="Text 30"/>
          <p:cNvSpPr/>
          <p:nvPr/>
        </p:nvSpPr>
        <p:spPr>
          <a:xfrm>
            <a:off x="2651760" y="3767328"/>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Assembles the daily briefing and issue view; reports SLA adherence in real time; routes triage to named owners.</a:t>
            </a:r>
            <a:endParaRPr lang="en-US" sz="900" dirty="0"/>
          </a:p>
        </p:txBody>
      </p:sp>
      <p:sp>
        <p:nvSpPr>
          <p:cNvPr id="33" name="Shape 31"/>
          <p:cNvSpPr/>
          <p:nvPr/>
        </p:nvSpPr>
        <p:spPr>
          <a:xfrm>
            <a:off x="4572000" y="3163824"/>
            <a:ext cx="1965960" cy="1536192"/>
          </a:xfrm>
          <a:prstGeom prst="rect">
            <a:avLst/>
          </a:prstGeom>
          <a:solidFill>
            <a:srgbClr val="F1F4F7"/>
          </a:solidFill>
          <a:ln w="9525">
            <a:solidFill>
              <a:srgbClr val="DDE1E6"/>
            </a:solidFill>
            <a:prstDash val="solid"/>
          </a:ln>
        </p:spPr>
      </p:sp>
      <p:sp>
        <p:nvSpPr>
          <p:cNvPr id="34" name="Text 32"/>
          <p:cNvSpPr/>
          <p:nvPr/>
        </p:nvSpPr>
        <p:spPr>
          <a:xfrm>
            <a:off x="4709160" y="3273552"/>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07</a:t>
            </a:r>
            <a:endParaRPr lang="en-US" sz="950" dirty="0"/>
          </a:p>
        </p:txBody>
      </p:sp>
      <p:sp>
        <p:nvSpPr>
          <p:cNvPr id="35" name="Text 33"/>
          <p:cNvSpPr/>
          <p:nvPr/>
        </p:nvSpPr>
        <p:spPr>
          <a:xfrm>
            <a:off x="4709160" y="3474720"/>
            <a:ext cx="1691640" cy="274320"/>
          </a:xfrm>
          <a:prstGeom prst="rect">
            <a:avLst/>
          </a:prstGeom>
          <a:noFill/>
          <a:ln/>
        </p:spPr>
        <p:txBody>
          <a:bodyPr wrap="square" lIns="0" tIns="0" rIns="0" bIns="0" rtlCol="0" anchor="t"/>
          <a:lstStyle/>
          <a:p>
            <a:pPr indent="0" marL="0">
              <a:buNone/>
            </a:pPr>
            <a:r>
              <a:rPr lang="en-US" sz="1150" b="1" dirty="0">
                <a:solidFill>
                  <a:srgbClr val="1A2233"/>
                </a:solidFill>
                <a:latin typeface="Calibri" pitchFamily="34" charset="0"/>
                <a:ea typeface="Calibri" pitchFamily="34" charset="-122"/>
                <a:cs typeface="Calibri" pitchFamily="34" charset="-120"/>
              </a:rPr>
              <a:t>Continuous Improvement</a:t>
            </a:r>
            <a:endParaRPr lang="en-US" sz="1150" dirty="0"/>
          </a:p>
        </p:txBody>
      </p:sp>
      <p:sp>
        <p:nvSpPr>
          <p:cNvPr id="36" name="Text 34"/>
          <p:cNvSpPr/>
          <p:nvPr/>
        </p:nvSpPr>
        <p:spPr>
          <a:xfrm>
            <a:off x="4709160" y="3767328"/>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676A75"/>
                </a:solidFill>
                <a:latin typeface="Calibri" pitchFamily="34" charset="0"/>
                <a:ea typeface="Calibri" pitchFamily="34" charset="-122"/>
                <a:cs typeface="Calibri" pitchFamily="34" charset="-120"/>
              </a:rPr>
              <a:t>Maps dependencies across the backlog and other Digital initiatives; ranks items against business-case value for human decision.</a:t>
            </a:r>
            <a:endParaRPr lang="en-US" sz="900" dirty="0"/>
          </a:p>
        </p:txBody>
      </p:sp>
      <p:sp>
        <p:nvSpPr>
          <p:cNvPr id="37" name="Shape 35"/>
          <p:cNvSpPr/>
          <p:nvPr/>
        </p:nvSpPr>
        <p:spPr>
          <a:xfrm>
            <a:off x="6629400" y="3163824"/>
            <a:ext cx="1965960" cy="1536192"/>
          </a:xfrm>
          <a:prstGeom prst="rect">
            <a:avLst/>
          </a:prstGeom>
          <a:solidFill>
            <a:srgbClr val="1A2233"/>
          </a:solidFill>
          <a:ln w="9525">
            <a:solidFill>
              <a:srgbClr val="DDE1E6"/>
            </a:solidFill>
            <a:prstDash val="solid"/>
          </a:ln>
        </p:spPr>
      </p:sp>
      <p:sp>
        <p:nvSpPr>
          <p:cNvPr id="38" name="Text 36"/>
          <p:cNvSpPr/>
          <p:nvPr/>
        </p:nvSpPr>
        <p:spPr>
          <a:xfrm>
            <a:off x="6766560" y="3273552"/>
            <a:ext cx="457200" cy="201168"/>
          </a:xfrm>
          <a:prstGeom prst="rect">
            <a:avLst/>
          </a:prstGeom>
          <a:noFill/>
          <a:ln/>
        </p:spPr>
        <p:txBody>
          <a:bodyPr wrap="square" lIns="0" tIns="0" rIns="0" bIns="0" rtlCol="0" anchor="t"/>
          <a:lstStyle/>
          <a:p>
            <a:pPr indent="0" marL="0">
              <a:buNone/>
            </a:pPr>
            <a:r>
              <a:rPr lang="en-US" sz="950" b="1" dirty="0">
                <a:solidFill>
                  <a:srgbClr val="C1272D"/>
                </a:solidFill>
                <a:latin typeface="Calibri" pitchFamily="34" charset="0"/>
                <a:ea typeface="Calibri" pitchFamily="34" charset="-122"/>
                <a:cs typeface="Calibri" pitchFamily="34" charset="-120"/>
              </a:rPr>
              <a:t>08</a:t>
            </a:r>
            <a:endParaRPr lang="en-US" sz="950" dirty="0"/>
          </a:p>
        </p:txBody>
      </p:sp>
      <p:sp>
        <p:nvSpPr>
          <p:cNvPr id="39" name="Text 37"/>
          <p:cNvSpPr/>
          <p:nvPr/>
        </p:nvSpPr>
        <p:spPr>
          <a:xfrm>
            <a:off x="6766560" y="3474720"/>
            <a:ext cx="1691640" cy="274320"/>
          </a:xfrm>
          <a:prstGeom prst="rect">
            <a:avLst/>
          </a:prstGeom>
          <a:noFill/>
          <a:ln/>
        </p:spPr>
        <p:txBody>
          <a:bodyPr wrap="square" lIns="0" tIns="0" rIns="0" bIns="0"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Benefit realization</a:t>
            </a:r>
            <a:endParaRPr lang="en-US" sz="1150" dirty="0"/>
          </a:p>
        </p:txBody>
      </p:sp>
      <p:sp>
        <p:nvSpPr>
          <p:cNvPr id="40" name="Text 38"/>
          <p:cNvSpPr/>
          <p:nvPr/>
        </p:nvSpPr>
        <p:spPr>
          <a:xfrm>
            <a:off x="6766560" y="3767328"/>
            <a:ext cx="1691640" cy="896112"/>
          </a:xfrm>
          <a:prstGeom prst="rect">
            <a:avLst/>
          </a:prstGeom>
          <a:noFill/>
          <a:ln/>
        </p:spPr>
        <p:txBody>
          <a:bodyPr wrap="square" lIns="0" tIns="0" rIns="0" bIns="0" rtlCol="0" anchor="t"/>
          <a:lstStyle/>
          <a:p>
            <a:pPr indent="0" marL="0">
              <a:lnSpc>
                <a:spcPct val="102000"/>
              </a:lnSpc>
              <a:buNone/>
            </a:pPr>
            <a:r>
              <a:rPr lang="en-US" sz="900" dirty="0">
                <a:solidFill>
                  <a:srgbClr val="DDE1E6"/>
                </a:solidFill>
                <a:latin typeface="Calibri" pitchFamily="34" charset="0"/>
                <a:ea typeface="Calibri" pitchFamily="34" charset="-122"/>
                <a:cs typeface="Calibri" pitchFamily="34" charset="-120"/>
              </a:rPr>
              <a:t>Links realized-benefit measures back to business-case decisions and owners; keeps tracking live after the program closes.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HUMAN CONTROL POINTS AND AI USAGE PROTOCOL</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Review and ownership are conditions of entry, not a later check</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6</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600200"/>
            <a:ext cx="1828800" cy="868680"/>
          </a:xfrm>
          <a:prstGeom prst="rect">
            <a:avLst/>
          </a:prstGeom>
          <a:solidFill>
            <a:srgbClr val="F1F4F7"/>
          </a:solidFill>
          <a:ln w="9525">
            <a:solidFill>
              <a:srgbClr val="DDE1E6"/>
            </a:solidFill>
            <a:prstDash val="solid"/>
          </a:ln>
        </p:spPr>
      </p:sp>
      <p:sp>
        <p:nvSpPr>
          <p:cNvPr id="10" name="Text 8"/>
          <p:cNvSpPr/>
          <p:nvPr/>
        </p:nvSpPr>
        <p:spPr>
          <a:xfrm>
            <a:off x="594360" y="1737360"/>
            <a:ext cx="1554480" cy="274320"/>
          </a:xfrm>
          <a:prstGeom prst="rect">
            <a:avLst/>
          </a:prstGeom>
          <a:noFill/>
          <a:ln/>
        </p:spPr>
        <p:txBody>
          <a:bodyPr wrap="square" lIns="0" tIns="0" rIns="0" bIns="0" rtlCol="0" anchor="t"/>
          <a:lstStyle/>
          <a:p>
            <a:pPr indent="0" marL="0">
              <a:buNone/>
            </a:pPr>
            <a:r>
              <a:rPr lang="en-US" sz="1250" b="1" dirty="0">
                <a:solidFill>
                  <a:srgbClr val="1A2233"/>
                </a:solidFill>
                <a:latin typeface="Calibri" pitchFamily="34" charset="0"/>
                <a:ea typeface="Calibri" pitchFamily="34" charset="-122"/>
                <a:cs typeface="Calibri" pitchFamily="34" charset="-120"/>
              </a:rPr>
              <a:t>Working version</a:t>
            </a:r>
            <a:endParaRPr lang="en-US" sz="1250" dirty="0"/>
          </a:p>
        </p:txBody>
      </p:sp>
      <p:sp>
        <p:nvSpPr>
          <p:cNvPr id="11" name="Text 9"/>
          <p:cNvSpPr/>
          <p:nvPr/>
        </p:nvSpPr>
        <p:spPr>
          <a:xfrm>
            <a:off x="594360" y="2029968"/>
            <a:ext cx="1554480" cy="411480"/>
          </a:xfrm>
          <a:prstGeom prst="rect">
            <a:avLst/>
          </a:prstGeom>
          <a:noFill/>
          <a:ln/>
        </p:spPr>
        <p:txBody>
          <a:bodyPr wrap="square" lIns="0" tIns="0" rIns="0" bIns="0" rtlCol="0" anchor="t"/>
          <a:lstStyle/>
          <a:p>
            <a:pPr indent="0" marL="0">
              <a:buNone/>
            </a:pPr>
            <a:r>
              <a:rPr lang="en-US" sz="950" dirty="0">
                <a:solidFill>
                  <a:srgbClr val="676A75"/>
                </a:solidFill>
                <a:latin typeface="Calibri" pitchFamily="34" charset="0"/>
                <a:ea typeface="Calibri" pitchFamily="34" charset="-122"/>
                <a:cs typeface="Calibri" pitchFamily="34" charset="-120"/>
              </a:rPr>
              <a:t>Progress tracked automatically</a:t>
            </a:r>
            <a:endParaRPr lang="en-US" sz="950" dirty="0"/>
          </a:p>
        </p:txBody>
      </p:sp>
      <p:sp>
        <p:nvSpPr>
          <p:cNvPr id="12" name="Shape 10"/>
          <p:cNvSpPr/>
          <p:nvPr/>
        </p:nvSpPr>
        <p:spPr>
          <a:xfrm>
            <a:off x="2606040" y="1600200"/>
            <a:ext cx="1920240" cy="868680"/>
          </a:xfrm>
          <a:prstGeom prst="rect">
            <a:avLst/>
          </a:prstGeom>
          <a:solidFill>
            <a:srgbClr val="C1272D"/>
          </a:solidFill>
          <a:ln w="9525">
            <a:solidFill>
              <a:srgbClr val="C1272D"/>
            </a:solidFill>
            <a:prstDash val="solid"/>
          </a:ln>
        </p:spPr>
      </p:sp>
      <p:sp>
        <p:nvSpPr>
          <p:cNvPr id="13" name="Text 11"/>
          <p:cNvSpPr/>
          <p:nvPr/>
        </p:nvSpPr>
        <p:spPr>
          <a:xfrm>
            <a:off x="2743200" y="1737360"/>
            <a:ext cx="164592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Condition of entry</a:t>
            </a:r>
            <a:endParaRPr lang="en-US" sz="1250" dirty="0"/>
          </a:p>
        </p:txBody>
      </p:sp>
      <p:sp>
        <p:nvSpPr>
          <p:cNvPr id="14" name="Text 12"/>
          <p:cNvSpPr/>
          <p:nvPr/>
        </p:nvSpPr>
        <p:spPr>
          <a:xfrm>
            <a:off x="2743200" y="2029968"/>
            <a:ext cx="1645920" cy="411480"/>
          </a:xfrm>
          <a:prstGeom prst="rect">
            <a:avLst/>
          </a:prstGeom>
          <a:noFill/>
          <a:ln/>
        </p:spPr>
        <p:txBody>
          <a:bodyPr wrap="square" lIns="0" tIns="0" rIns="0" bIns="0" rtlCol="0" anchor="t"/>
          <a:lstStyle/>
          <a:p>
            <a:pPr indent="0" marL="0">
              <a:buNone/>
            </a:pPr>
            <a:r>
              <a:rPr lang="en-US" sz="950" dirty="0">
                <a:solidFill>
                  <a:srgbClr val="FBE3E4"/>
                </a:solidFill>
                <a:latin typeface="Calibri" pitchFamily="34" charset="0"/>
                <a:ea typeface="Calibri" pitchFamily="34" charset="-122"/>
                <a:cs typeface="Calibri" pitchFamily="34" charset="-120"/>
              </a:rPr>
              <a:t>Reviewed and assigned a named owner</a:t>
            </a:r>
            <a:endParaRPr lang="en-US" sz="950" dirty="0"/>
          </a:p>
        </p:txBody>
      </p:sp>
      <p:sp>
        <p:nvSpPr>
          <p:cNvPr id="15" name="Shape 13"/>
          <p:cNvSpPr/>
          <p:nvPr/>
        </p:nvSpPr>
        <p:spPr>
          <a:xfrm>
            <a:off x="4846320" y="1600200"/>
            <a:ext cx="1828800" cy="868680"/>
          </a:xfrm>
          <a:prstGeom prst="rect">
            <a:avLst/>
          </a:prstGeom>
          <a:solidFill>
            <a:srgbClr val="1A2233"/>
          </a:solidFill>
          <a:ln w="9525">
            <a:solidFill>
              <a:srgbClr val="1A2233"/>
            </a:solidFill>
            <a:prstDash val="solid"/>
          </a:ln>
        </p:spPr>
      </p:sp>
      <p:sp>
        <p:nvSpPr>
          <p:cNvPr id="16" name="Text 14"/>
          <p:cNvSpPr/>
          <p:nvPr/>
        </p:nvSpPr>
        <p:spPr>
          <a:xfrm>
            <a:off x="4983480" y="1737360"/>
            <a:ext cx="1554480" cy="274320"/>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Retrievable set</a:t>
            </a:r>
            <a:endParaRPr lang="en-US" sz="1250" dirty="0"/>
          </a:p>
        </p:txBody>
      </p:sp>
      <p:sp>
        <p:nvSpPr>
          <p:cNvPr id="17" name="Text 15"/>
          <p:cNvSpPr/>
          <p:nvPr/>
        </p:nvSpPr>
        <p:spPr>
          <a:xfrm>
            <a:off x="4983480" y="2029968"/>
            <a:ext cx="1554480" cy="411480"/>
          </a:xfrm>
          <a:prstGeom prst="rect">
            <a:avLst/>
          </a:prstGeom>
          <a:noFill/>
          <a:ln/>
        </p:spPr>
        <p:txBody>
          <a:bodyPr wrap="square" lIns="0" tIns="0" rIns="0" bIns="0" rtlCol="0" anchor="t"/>
          <a:lstStyle/>
          <a:p>
            <a:pPr indent="0" marL="0">
              <a:buNone/>
            </a:pPr>
            <a:r>
              <a:rPr lang="en-US" sz="950" dirty="0">
                <a:solidFill>
                  <a:srgbClr val="DDE1E6"/>
                </a:solidFill>
                <a:latin typeface="Calibri" pitchFamily="34" charset="0"/>
                <a:ea typeface="Calibri" pitchFamily="34" charset="-122"/>
                <a:cs typeface="Calibri" pitchFamily="34" charset="-120"/>
              </a:rPr>
              <a:t>New version against a new baseline</a:t>
            </a:r>
            <a:endParaRPr lang="en-US" sz="950" dirty="0"/>
          </a:p>
        </p:txBody>
      </p:sp>
      <p:sp>
        <p:nvSpPr>
          <p:cNvPr id="18" name="Shape 16"/>
          <p:cNvSpPr/>
          <p:nvPr/>
        </p:nvSpPr>
        <p:spPr>
          <a:xfrm>
            <a:off x="2304288" y="1929384"/>
            <a:ext cx="274320" cy="219456"/>
          </a:xfrm>
          <a:prstGeom prst="rightArrow">
            <a:avLst/>
          </a:prstGeom>
          <a:solidFill>
            <a:srgbClr val="676A75"/>
          </a:solidFill>
          <a:ln w="12700">
            <a:solidFill>
              <a:srgbClr val="676A75"/>
            </a:solidFill>
            <a:prstDash val="solid"/>
          </a:ln>
        </p:spPr>
      </p:sp>
      <p:sp>
        <p:nvSpPr>
          <p:cNvPr id="19" name="Shape 17"/>
          <p:cNvSpPr/>
          <p:nvPr/>
        </p:nvSpPr>
        <p:spPr>
          <a:xfrm>
            <a:off x="4544568" y="1929384"/>
            <a:ext cx="274320" cy="219456"/>
          </a:xfrm>
          <a:prstGeom prst="rightArrow">
            <a:avLst/>
          </a:prstGeom>
          <a:solidFill>
            <a:srgbClr val="676A75"/>
          </a:solidFill>
          <a:ln w="12700">
            <a:solidFill>
              <a:srgbClr val="676A75"/>
            </a:solidFill>
            <a:prstDash val="solid"/>
          </a:ln>
        </p:spPr>
      </p:sp>
      <p:sp>
        <p:nvSpPr>
          <p:cNvPr id="20" name="Shape 18"/>
          <p:cNvSpPr/>
          <p:nvPr/>
        </p:nvSpPr>
        <p:spPr>
          <a:xfrm>
            <a:off x="6702552" y="1929384"/>
            <a:ext cx="274320" cy="219456"/>
          </a:xfrm>
          <a:prstGeom prst="rightArrow">
            <a:avLst/>
          </a:prstGeom>
          <a:solidFill>
            <a:srgbClr val="676A75"/>
          </a:solidFill>
          <a:ln w="12700">
            <a:solidFill>
              <a:srgbClr val="676A75"/>
            </a:solidFill>
            <a:prstDash val="solid"/>
          </a:ln>
        </p:spPr>
      </p:sp>
      <p:sp>
        <p:nvSpPr>
          <p:cNvPr id="21" name="Shape 19"/>
          <p:cNvSpPr/>
          <p:nvPr/>
        </p:nvSpPr>
        <p:spPr>
          <a:xfrm>
            <a:off x="7022592" y="1554480"/>
            <a:ext cx="1618488" cy="457200"/>
          </a:xfrm>
          <a:prstGeom prst="rect">
            <a:avLst/>
          </a:prstGeom>
          <a:solidFill>
            <a:srgbClr val="FFFFFF"/>
          </a:solidFill>
          <a:ln w="9525">
            <a:solidFill>
              <a:srgbClr val="1A2233"/>
            </a:solidFill>
            <a:prstDash val="solid"/>
          </a:ln>
        </p:spPr>
      </p:sp>
      <p:sp>
        <p:nvSpPr>
          <p:cNvPr id="22" name="Text 20"/>
          <p:cNvSpPr/>
          <p:nvPr/>
        </p:nvSpPr>
        <p:spPr>
          <a:xfrm>
            <a:off x="7114032" y="1591056"/>
            <a:ext cx="1463040" cy="38404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AI surface</a:t>
            </a:r>
            <a:endParaRPr lang="en-US" sz="1050" dirty="0"/>
          </a:p>
        </p:txBody>
      </p:sp>
      <p:sp>
        <p:nvSpPr>
          <p:cNvPr id="23" name="Shape 21"/>
          <p:cNvSpPr/>
          <p:nvPr/>
        </p:nvSpPr>
        <p:spPr>
          <a:xfrm>
            <a:off x="7022592" y="2057400"/>
            <a:ext cx="1618488" cy="457200"/>
          </a:xfrm>
          <a:prstGeom prst="rect">
            <a:avLst/>
          </a:prstGeom>
          <a:solidFill>
            <a:srgbClr val="FFFFFF"/>
          </a:solidFill>
          <a:ln w="9525">
            <a:solidFill>
              <a:srgbClr val="1A2233"/>
            </a:solidFill>
            <a:prstDash val="solid"/>
          </a:ln>
        </p:spPr>
      </p:sp>
      <p:sp>
        <p:nvSpPr>
          <p:cNvPr id="24" name="Text 22"/>
          <p:cNvSpPr/>
          <p:nvPr/>
        </p:nvSpPr>
        <p:spPr>
          <a:xfrm>
            <a:off x="7114032" y="2093976"/>
            <a:ext cx="1463040" cy="384048"/>
          </a:xfrm>
          <a:prstGeom prst="rect">
            <a:avLst/>
          </a:prstGeom>
          <a:noFill/>
          <a:ln/>
        </p:spPr>
        <p:txBody>
          <a:bodyPr wrap="square" lIns="0" tIns="0" rIns="0" bIns="0" rtlCol="0" anchor="ctr"/>
          <a:lstStyle/>
          <a:p>
            <a:pPr indent="0" marL="0">
              <a:buNone/>
            </a:pPr>
            <a:r>
              <a:rPr lang="en-US" sz="1050" b="1" dirty="0">
                <a:solidFill>
                  <a:srgbClr val="1A2233"/>
                </a:solidFill>
                <a:latin typeface="Calibri" pitchFamily="34" charset="0"/>
                <a:ea typeface="Calibri" pitchFamily="34" charset="-122"/>
                <a:cs typeface="Calibri" pitchFamily="34" charset="-120"/>
              </a:rPr>
              <a:t>Executive views</a:t>
            </a:r>
            <a:endParaRPr lang="en-US" sz="1050" dirty="0"/>
          </a:p>
        </p:txBody>
      </p:sp>
      <p:sp>
        <p:nvSpPr>
          <p:cNvPr id="25" name="Shape 23"/>
          <p:cNvSpPr/>
          <p:nvPr/>
        </p:nvSpPr>
        <p:spPr>
          <a:xfrm>
            <a:off x="457200" y="2697480"/>
            <a:ext cx="4069080" cy="502920"/>
          </a:xfrm>
          <a:prstGeom prst="rect">
            <a:avLst/>
          </a:prstGeom>
          <a:solidFill>
            <a:srgbClr val="FFFFFF"/>
          </a:solidFill>
          <a:ln w="9525">
            <a:solidFill>
              <a:srgbClr val="C1272D"/>
            </a:solidFill>
            <a:prstDash val="dash"/>
          </a:ln>
        </p:spPr>
      </p:sp>
      <p:sp>
        <p:nvSpPr>
          <p:cNvPr id="26" name="Text 24"/>
          <p:cNvSpPr/>
          <p:nvPr/>
        </p:nvSpPr>
        <p:spPr>
          <a:xfrm>
            <a:off x="594360" y="2697480"/>
            <a:ext cx="3840480" cy="502920"/>
          </a:xfrm>
          <a:prstGeom prst="rect">
            <a:avLst/>
          </a:prstGeom>
          <a:noFill/>
          <a:ln/>
        </p:spPr>
        <p:txBody>
          <a:bodyPr wrap="square" lIns="0" tIns="0" rIns="0" bIns="0" rtlCol="0" anchor="ctr"/>
          <a:lstStyle/>
          <a:p>
            <a:pPr indent="0" marL="0">
              <a:buNone/>
            </a:pPr>
            <a:r>
              <a:rPr lang="en-US" sz="1050" b="1" dirty="0">
                <a:solidFill>
                  <a:srgbClr val="C1272D"/>
                </a:solidFill>
                <a:latin typeface="Calibri" pitchFamily="34" charset="0"/>
                <a:ea typeface="Calibri" pitchFamily="34" charset="-122"/>
                <a:cs typeface="Calibri" pitchFamily="34" charset="-120"/>
              </a:rPr>
              <a:t>Out of reach of the AI surface: </a:t>
            </a:r>
            <a:r>
              <a:rPr lang="en-US" sz="1050" dirty="0">
                <a:solidFill>
                  <a:srgbClr val="1A2233"/>
                </a:solidFill>
                <a:latin typeface="Calibri" pitchFamily="34" charset="0"/>
                <a:ea typeface="Calibri" pitchFamily="34" charset="-122"/>
                <a:cs typeface="Calibri" pitchFamily="34" charset="-120"/>
              </a:rPr>
              <a:t>draft, private, superseded, or unattributed material.</a:t>
            </a:r>
            <a:endParaRPr lang="en-US" sz="1050" dirty="0"/>
          </a:p>
        </p:txBody>
      </p:sp>
      <p:sp>
        <p:nvSpPr>
          <p:cNvPr id="27" name="Text 25"/>
          <p:cNvSpPr/>
          <p:nvPr/>
        </p:nvSpPr>
        <p:spPr>
          <a:xfrm>
            <a:off x="4846320" y="2697480"/>
            <a:ext cx="3794760" cy="548640"/>
          </a:xfrm>
          <a:prstGeom prst="rect">
            <a:avLst/>
          </a:prstGeom>
          <a:noFill/>
          <a:ln/>
        </p:spPr>
        <p:txBody>
          <a:bodyPr wrap="square" lIns="0" tIns="0" rIns="0" bIns="0" rtlCol="0" anchor="t"/>
          <a:lstStyle/>
          <a:p>
            <a:pPr indent="0" marL="0">
              <a:buNone/>
            </a:pPr>
            <a:r>
              <a:rPr lang="en-US" sz="950" dirty="0">
                <a:solidFill>
                  <a:srgbClr val="676A75"/>
                </a:solidFill>
                <a:latin typeface="Calibri" pitchFamily="34" charset="0"/>
                <a:ea typeface="Calibri" pitchFamily="34" charset="-122"/>
                <a:cs typeface="Calibri" pitchFamily="34" charset="-120"/>
              </a:rPr>
              <a:t>AI surface: Outputs remain drafts until a named human reviews and approves them.</a:t>
            </a:r>
            <a:endParaRPr lang="en-US" sz="950" dirty="0"/>
          </a:p>
          <a:p>
            <a:pPr indent="0" marL="0">
              <a:buNone/>
            </a:pPr>
            <a:r>
              <a:rPr lang="en-US" sz="950" dirty="0">
                <a:solidFill>
                  <a:srgbClr val="676A75"/>
                </a:solidFill>
                <a:latin typeface="Calibri" pitchFamily="34" charset="0"/>
                <a:ea typeface="Calibri" pitchFamily="34" charset="-122"/>
                <a:cs typeface="Calibri" pitchFamily="34" charset="-120"/>
              </a:rPr>
              <a:t>Executive views: Every number traces back to a reviewed artifact with a named owner.</a:t>
            </a:r>
            <a:endParaRPr lang="en-US" sz="950" dirty="0"/>
          </a:p>
        </p:txBody>
      </p:sp>
      <p:sp>
        <p:nvSpPr>
          <p:cNvPr id="28" name="Shape 26"/>
          <p:cNvSpPr/>
          <p:nvPr/>
        </p:nvSpPr>
        <p:spPr>
          <a:xfrm>
            <a:off x="457200" y="3429000"/>
            <a:ext cx="8183880" cy="1188720"/>
          </a:xfrm>
          <a:prstGeom prst="rect">
            <a:avLst/>
          </a:prstGeom>
          <a:solidFill>
            <a:srgbClr val="F1F4F7"/>
          </a:solidFill>
          <a:ln w="9525">
            <a:solidFill>
              <a:srgbClr val="DDE1E6"/>
            </a:solidFill>
            <a:prstDash val="solid"/>
          </a:ln>
        </p:spPr>
      </p:sp>
      <p:sp>
        <p:nvSpPr>
          <p:cNvPr id="29" name="Text 27"/>
          <p:cNvSpPr/>
          <p:nvPr/>
        </p:nvSpPr>
        <p:spPr>
          <a:xfrm>
            <a:off x="640080" y="3520440"/>
            <a:ext cx="7772400" cy="292608"/>
          </a:xfrm>
          <a:prstGeom prst="rect">
            <a:avLst/>
          </a:prstGeom>
          <a:noFill/>
          <a:ln/>
        </p:spPr>
        <p:txBody>
          <a:bodyPr wrap="square" lIns="0" tIns="0" rIns="0" bIns="0" rtlCol="0" anchor="t"/>
          <a:lstStyle/>
          <a:p>
            <a:pPr indent="0" marL="0">
              <a:buNone/>
            </a:pPr>
            <a:r>
              <a:rPr lang="en-US" sz="1600" dirty="0">
                <a:solidFill>
                  <a:srgbClr val="1A2233"/>
                </a:solidFill>
                <a:latin typeface="Calibri Light" pitchFamily="34" charset="0"/>
                <a:ea typeface="Calibri Light" pitchFamily="34" charset="-122"/>
                <a:cs typeface="Calibri Light" pitchFamily="34" charset="-120"/>
              </a:rPr>
              <a:t>Human authority remains the control point.</a:t>
            </a:r>
            <a:endParaRPr lang="en-US" sz="1600" dirty="0"/>
          </a:p>
        </p:txBody>
      </p:sp>
      <p:sp>
        <p:nvSpPr>
          <p:cNvPr id="30" name="Text 28"/>
          <p:cNvSpPr/>
          <p:nvPr/>
        </p:nvSpPr>
        <p:spPr>
          <a:xfrm>
            <a:off x="640080" y="3840480"/>
            <a:ext cx="7818120" cy="749808"/>
          </a:xfrm>
          <a:prstGeom prst="rect">
            <a:avLst/>
          </a:prstGeom>
          <a:noFill/>
          <a:ln/>
        </p:spPr>
        <p:txBody>
          <a:bodyPr wrap="square" lIns="0" tIns="0" rIns="0" bIns="0" rtlCol="0" anchor="t"/>
          <a:lstStyle/>
          <a:p>
            <a:pPr indent="0" marL="0">
              <a:lnSpc>
                <a:spcPct val="105000"/>
              </a:lnSpc>
              <a:buNone/>
            </a:pPr>
            <a:r>
              <a:rPr lang="en-US" sz="980" dirty="0">
                <a:solidFill>
                  <a:srgbClr val="1A2233"/>
                </a:solidFill>
                <a:latin typeface="Calibri" pitchFamily="34" charset="0"/>
                <a:ea typeface="Calibri" pitchFamily="34" charset="-122"/>
                <a:cs typeface="Calibri" pitchFamily="34" charset="-120"/>
              </a:rPr>
              <a:t>AI tools and repository-based assistants may prepare, retrieve, organize, compare, draft, and flag information, but they do not independently establish program commitments, approve scope, authorize spending, accept risk, approve a design, or replace named accountable people. What counts as a material output, and the thresholds that require each level of approval, are defined upfront and approved through the program governance model or steering group.</a:t>
            </a:r>
            <a:endParaRPr lang="en-US" sz="9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64592"/>
            <a:ext cx="5943600" cy="256032"/>
          </a:xfrm>
          <a:prstGeom prst="rect">
            <a:avLst/>
          </a:prstGeom>
          <a:noFill/>
          <a:ln/>
        </p:spPr>
        <p:txBody>
          <a:bodyPr wrap="square" lIns="0" tIns="0" rIns="0" bIns="0" rtlCol="0" anchor="ctr"/>
          <a:lstStyle/>
          <a:p>
            <a:pPr indent="0" marL="0">
              <a:buNone/>
            </a:pPr>
            <a:r>
              <a:rPr lang="en-US" sz="900" b="1" dirty="0">
                <a:solidFill>
                  <a:srgbClr val="1A2233"/>
                </a:solidFill>
                <a:latin typeface="Calibri" pitchFamily="34" charset="0"/>
                <a:ea typeface="Calibri" pitchFamily="34" charset="-122"/>
                <a:cs typeface="Calibri" pitchFamily="34" charset="-120"/>
              </a:rPr>
              <a:t>EMERSON RUSH</a:t>
            </a:r>
            <a:r>
              <a:rPr lang="en-US" sz="900" dirty="0">
                <a:solidFill>
                  <a:srgbClr val="676A75"/>
                </a:solidFill>
                <a:latin typeface="Calibri" pitchFamily="34" charset="0"/>
                <a:ea typeface="Calibri" pitchFamily="34" charset="-122"/>
                <a:cs typeface="Calibri" pitchFamily="34" charset="-120"/>
              </a:rPr>
              <a:t>   Decision Intelligence PMO Model</a:t>
            </a:r>
            <a:endParaRPr lang="en-US" sz="900" dirty="0"/>
          </a:p>
        </p:txBody>
      </p:sp>
      <p:sp>
        <p:nvSpPr>
          <p:cNvPr id="3" name="Text 1"/>
          <p:cNvSpPr/>
          <p:nvPr/>
        </p:nvSpPr>
        <p:spPr>
          <a:xfrm>
            <a:off x="5943600" y="164592"/>
            <a:ext cx="2743200" cy="256032"/>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Lilian Corvington</a:t>
            </a:r>
            <a:endParaRPr lang="en-US" sz="900" dirty="0"/>
          </a:p>
        </p:txBody>
      </p:sp>
      <p:sp>
        <p:nvSpPr>
          <p:cNvPr id="4" name="Shape 2"/>
          <p:cNvSpPr/>
          <p:nvPr/>
        </p:nvSpPr>
        <p:spPr>
          <a:xfrm>
            <a:off x="457200" y="457200"/>
            <a:ext cx="8229600" cy="0"/>
          </a:xfrm>
          <a:prstGeom prst="line">
            <a:avLst/>
          </a:prstGeom>
          <a:noFill/>
          <a:ln w="9525">
            <a:solidFill>
              <a:srgbClr val="DDE1E6"/>
            </a:solidFill>
            <a:prstDash val="solid"/>
          </a:ln>
        </p:spPr>
      </p:sp>
      <p:sp>
        <p:nvSpPr>
          <p:cNvPr id="5" name="Text 3"/>
          <p:cNvSpPr/>
          <p:nvPr/>
        </p:nvSpPr>
        <p:spPr>
          <a:xfrm>
            <a:off x="457200" y="603504"/>
            <a:ext cx="8229600" cy="228600"/>
          </a:xfrm>
          <a:prstGeom prst="rect">
            <a:avLst/>
          </a:prstGeom>
          <a:noFill/>
          <a:ln/>
        </p:spPr>
        <p:txBody>
          <a:bodyPr wrap="square" lIns="0" tIns="0" rIns="0" bIns="0" rtlCol="0" anchor="ctr"/>
          <a:lstStyle/>
          <a:p>
            <a:pPr indent="0" marL="0">
              <a:buNone/>
            </a:pPr>
            <a:r>
              <a:rPr lang="en-US" sz="1000" b="1" spc="100" kern="0" dirty="0">
                <a:solidFill>
                  <a:srgbClr val="C1272D"/>
                </a:solidFill>
                <a:latin typeface="Calibri" pitchFamily="34" charset="0"/>
                <a:ea typeface="Calibri" pitchFamily="34" charset="-122"/>
                <a:cs typeface="Calibri" pitchFamily="34" charset="-120"/>
              </a:rPr>
              <a:t>AI RISK, COMPLIANCE AND GOVERNANCE</a:t>
            </a:r>
            <a:endParaRPr lang="en-US" sz="1000" dirty="0"/>
          </a:p>
        </p:txBody>
      </p:sp>
      <p:sp>
        <p:nvSpPr>
          <p:cNvPr id="6" name="Text 4"/>
          <p:cNvSpPr/>
          <p:nvPr/>
        </p:nvSpPr>
        <p:spPr>
          <a:xfrm>
            <a:off x="457200" y="841248"/>
            <a:ext cx="8229600" cy="548640"/>
          </a:xfrm>
          <a:prstGeom prst="rect">
            <a:avLst/>
          </a:prstGeom>
          <a:noFill/>
          <a:ln/>
        </p:spPr>
        <p:txBody>
          <a:bodyPr wrap="square" lIns="0" tIns="0" rIns="0" bIns="0" rtlCol="0" anchor="t"/>
          <a:lstStyle/>
          <a:p>
            <a:pPr indent="0" marL="0">
              <a:buNone/>
            </a:pPr>
            <a:r>
              <a:rPr lang="en-US" sz="2100" dirty="0">
                <a:solidFill>
                  <a:srgbClr val="1A2233"/>
                </a:solidFill>
                <a:latin typeface="Calibri Light" pitchFamily="34" charset="0"/>
                <a:ea typeface="Calibri Light" pitchFamily="34" charset="-122"/>
                <a:cs typeface="Calibri Light" pitchFamily="34" charset="-120"/>
              </a:rPr>
              <a:t>Two kinds of compliance; in both, named people decide</a:t>
            </a:r>
            <a:endParaRPr lang="en-US" sz="2100" dirty="0"/>
          </a:p>
        </p:txBody>
      </p:sp>
      <p:sp>
        <p:nvSpPr>
          <p:cNvPr id="7" name="Text 5"/>
          <p:cNvSpPr/>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676A75"/>
                </a:solidFill>
                <a:latin typeface="Calibri" pitchFamily="34" charset="0"/>
                <a:ea typeface="Calibri" pitchFamily="34" charset="-122"/>
                <a:cs typeface="Calibri" pitchFamily="34" charset="-120"/>
              </a:rPr>
              <a:t>7</a:t>
            </a:r>
            <a:endParaRPr lang="en-US" sz="900" dirty="0"/>
          </a:p>
        </p:txBody>
      </p:sp>
      <p:sp>
        <p:nvSpPr>
          <p:cNvPr id="8" name="Text 6"/>
          <p:cNvSpPr/>
          <p:nvPr/>
        </p:nvSpPr>
        <p:spPr>
          <a:xfrm>
            <a:off x="457200" y="4828032"/>
            <a:ext cx="2743200" cy="201168"/>
          </a:xfrm>
          <a:prstGeom prst="rect">
            <a:avLst/>
          </a:prstGeom>
          <a:noFill/>
          <a:ln/>
        </p:spPr>
        <p:txBody>
          <a:bodyPr wrap="square" lIns="0" tIns="0" rIns="0" bIns="0" rtlCol="0" anchor="ctr"/>
          <a:lstStyle/>
          <a:p>
            <a:pPr indent="0" marL="0">
              <a:buNone/>
            </a:pPr>
            <a:r>
              <a:rPr lang="en-US" sz="900" dirty="0">
                <a:solidFill>
                  <a:srgbClr val="676A75"/>
                </a:solidFill>
                <a:latin typeface="Calibri" pitchFamily="34" charset="0"/>
                <a:ea typeface="Calibri" pitchFamily="34" charset="-122"/>
                <a:cs typeface="Calibri" pitchFamily="34" charset="-120"/>
              </a:rPr>
              <a:t>emersonrush.com</a:t>
            </a:r>
            <a:endParaRPr lang="en-US" sz="900" dirty="0"/>
          </a:p>
        </p:txBody>
      </p:sp>
      <p:sp>
        <p:nvSpPr>
          <p:cNvPr id="9" name="Shape 7"/>
          <p:cNvSpPr/>
          <p:nvPr/>
        </p:nvSpPr>
        <p:spPr>
          <a:xfrm>
            <a:off x="457200" y="1572768"/>
            <a:ext cx="4023360" cy="1920240"/>
          </a:xfrm>
          <a:prstGeom prst="rect">
            <a:avLst/>
          </a:prstGeom>
          <a:solidFill>
            <a:srgbClr val="F1F4F7"/>
          </a:solidFill>
          <a:ln w="9525">
            <a:solidFill>
              <a:srgbClr val="DDE1E6"/>
            </a:solidFill>
            <a:prstDash val="solid"/>
          </a:ln>
        </p:spPr>
      </p:sp>
      <p:sp>
        <p:nvSpPr>
          <p:cNvPr id="10" name="Text 8"/>
          <p:cNvSpPr/>
          <p:nvPr/>
        </p:nvSpPr>
        <p:spPr>
          <a:xfrm>
            <a:off x="685800" y="1700784"/>
            <a:ext cx="548640" cy="228600"/>
          </a:xfrm>
          <a:prstGeom prst="rect">
            <a:avLst/>
          </a:prstGeom>
          <a:noFill/>
          <a:ln/>
        </p:spPr>
        <p:txBody>
          <a:bodyPr wrap="square" lIns="0" tIns="0" rIns="0" bIns="0" rtlCol="0" anchor="t"/>
          <a:lstStyle/>
          <a:p>
            <a:pPr indent="0" marL="0">
              <a:buNone/>
            </a:pPr>
            <a:r>
              <a:rPr lang="en-US" sz="1100" b="1" dirty="0">
                <a:solidFill>
                  <a:srgbClr val="C1272D"/>
                </a:solidFill>
                <a:latin typeface="Calibri" pitchFamily="34" charset="0"/>
                <a:ea typeface="Calibri" pitchFamily="34" charset="-122"/>
                <a:cs typeface="Calibri" pitchFamily="34" charset="-120"/>
              </a:rPr>
              <a:t>01</a:t>
            </a:r>
            <a:endParaRPr lang="en-US" sz="1100" dirty="0"/>
          </a:p>
        </p:txBody>
      </p:sp>
      <p:sp>
        <p:nvSpPr>
          <p:cNvPr id="11" name="Text 9"/>
          <p:cNvSpPr/>
          <p:nvPr/>
        </p:nvSpPr>
        <p:spPr>
          <a:xfrm>
            <a:off x="685800" y="1920240"/>
            <a:ext cx="3566160" cy="320040"/>
          </a:xfrm>
          <a:prstGeom prst="rect">
            <a:avLst/>
          </a:prstGeom>
          <a:noFill/>
          <a:ln/>
        </p:spPr>
        <p:txBody>
          <a:bodyPr wrap="square" lIns="0" tIns="0" rIns="0" bIns="0" rtlCol="0" anchor="t"/>
          <a:lstStyle/>
          <a:p>
            <a:pPr indent="0" marL="0">
              <a:buNone/>
            </a:pPr>
            <a:r>
              <a:rPr lang="en-US" sz="1600" dirty="0">
                <a:solidFill>
                  <a:srgbClr val="1A2233"/>
                </a:solidFill>
                <a:latin typeface="Calibri Light" pitchFamily="34" charset="0"/>
                <a:ea typeface="Calibri Light" pitchFamily="34" charset="-122"/>
                <a:cs typeface="Calibri Light" pitchFamily="34" charset="-120"/>
              </a:rPr>
              <a:t>Compliance of the framework</a:t>
            </a:r>
            <a:endParaRPr lang="en-US" sz="1600" dirty="0"/>
          </a:p>
        </p:txBody>
      </p:sp>
      <p:sp>
        <p:nvSpPr>
          <p:cNvPr id="12" name="Text 10"/>
          <p:cNvSpPr/>
          <p:nvPr/>
        </p:nvSpPr>
        <p:spPr>
          <a:xfrm>
            <a:off x="685800" y="2286000"/>
            <a:ext cx="3611880" cy="1188720"/>
          </a:xfrm>
          <a:prstGeom prst="rect">
            <a:avLst/>
          </a:prstGeom>
          <a:noFill/>
          <a:ln/>
        </p:spPr>
        <p:txBody>
          <a:bodyPr wrap="square" lIns="0" tIns="0" rIns="0" bIns="0" rtlCol="0" anchor="t"/>
          <a:lstStyle/>
          <a:p>
            <a:pPr indent="0" marL="0">
              <a:lnSpc>
                <a:spcPct val="105000"/>
              </a:lnSpc>
              <a:buNone/>
            </a:pPr>
            <a:r>
              <a:rPr lang="en-US" sz="980" dirty="0">
                <a:solidFill>
                  <a:srgbClr val="1A2233"/>
                </a:solidFill>
                <a:latin typeface="Calibri" pitchFamily="34" charset="0"/>
                <a:ea typeface="Calibri" pitchFamily="34" charset="-122"/>
                <a:cs typeface="Calibri" pitchFamily="34" charset="-120"/>
              </a:rPr>
              <a:t>The framework and its AI surfaces are designed to meet the company’s security, data-protection, and control requirements, including CISA-relevant guidance, applicable internal control over financial reporting frameworks, and ISO standards. They operate inside the company’s own environment and approved platforms.</a:t>
            </a:r>
            <a:endParaRPr lang="en-US" sz="980" dirty="0"/>
          </a:p>
        </p:txBody>
      </p:sp>
      <p:sp>
        <p:nvSpPr>
          <p:cNvPr id="13" name="Shape 11"/>
          <p:cNvSpPr/>
          <p:nvPr/>
        </p:nvSpPr>
        <p:spPr>
          <a:xfrm>
            <a:off x="4617720" y="1572768"/>
            <a:ext cx="4023360" cy="1920240"/>
          </a:xfrm>
          <a:prstGeom prst="rect">
            <a:avLst/>
          </a:prstGeom>
          <a:solidFill>
            <a:srgbClr val="F1F4F7"/>
          </a:solidFill>
          <a:ln w="9525">
            <a:solidFill>
              <a:srgbClr val="DDE1E6"/>
            </a:solidFill>
            <a:prstDash val="solid"/>
          </a:ln>
        </p:spPr>
      </p:sp>
      <p:sp>
        <p:nvSpPr>
          <p:cNvPr id="14" name="Text 12"/>
          <p:cNvSpPr/>
          <p:nvPr/>
        </p:nvSpPr>
        <p:spPr>
          <a:xfrm>
            <a:off x="4846320" y="1700784"/>
            <a:ext cx="548640" cy="228600"/>
          </a:xfrm>
          <a:prstGeom prst="rect">
            <a:avLst/>
          </a:prstGeom>
          <a:noFill/>
          <a:ln/>
        </p:spPr>
        <p:txBody>
          <a:bodyPr wrap="square" lIns="0" tIns="0" rIns="0" bIns="0" rtlCol="0" anchor="t"/>
          <a:lstStyle/>
          <a:p>
            <a:pPr indent="0" marL="0">
              <a:buNone/>
            </a:pPr>
            <a:r>
              <a:rPr lang="en-US" sz="1100" b="1" dirty="0">
                <a:solidFill>
                  <a:srgbClr val="C1272D"/>
                </a:solidFill>
                <a:latin typeface="Calibri" pitchFamily="34" charset="0"/>
                <a:ea typeface="Calibri" pitchFamily="34" charset="-122"/>
                <a:cs typeface="Calibri" pitchFamily="34" charset="-120"/>
              </a:rPr>
              <a:t>02</a:t>
            </a:r>
            <a:endParaRPr lang="en-US" sz="1100" dirty="0"/>
          </a:p>
        </p:txBody>
      </p:sp>
      <p:sp>
        <p:nvSpPr>
          <p:cNvPr id="15" name="Text 13"/>
          <p:cNvSpPr/>
          <p:nvPr/>
        </p:nvSpPr>
        <p:spPr>
          <a:xfrm>
            <a:off x="4846320" y="1920240"/>
            <a:ext cx="3566160" cy="320040"/>
          </a:xfrm>
          <a:prstGeom prst="rect">
            <a:avLst/>
          </a:prstGeom>
          <a:noFill/>
          <a:ln/>
        </p:spPr>
        <p:txBody>
          <a:bodyPr wrap="square" lIns="0" tIns="0" rIns="0" bIns="0" rtlCol="0" anchor="t"/>
          <a:lstStyle/>
          <a:p>
            <a:pPr indent="0" marL="0">
              <a:buNone/>
            </a:pPr>
            <a:r>
              <a:rPr lang="en-US" sz="1600" dirty="0">
                <a:solidFill>
                  <a:srgbClr val="1A2233"/>
                </a:solidFill>
                <a:latin typeface="Calibri Light" pitchFamily="34" charset="0"/>
                <a:ea typeface="Calibri Light" pitchFamily="34" charset="-122"/>
                <a:cs typeface="Calibri Light" pitchFamily="34" charset="-120"/>
              </a:rPr>
              <a:t>Compliance support in the program</a:t>
            </a:r>
            <a:endParaRPr lang="en-US" sz="1600" dirty="0"/>
          </a:p>
        </p:txBody>
      </p:sp>
      <p:sp>
        <p:nvSpPr>
          <p:cNvPr id="16" name="Text 14"/>
          <p:cNvSpPr/>
          <p:nvPr/>
        </p:nvSpPr>
        <p:spPr>
          <a:xfrm>
            <a:off x="4846320" y="2286000"/>
            <a:ext cx="3611880" cy="1188720"/>
          </a:xfrm>
          <a:prstGeom prst="rect">
            <a:avLst/>
          </a:prstGeom>
          <a:noFill/>
          <a:ln/>
        </p:spPr>
        <p:txBody>
          <a:bodyPr wrap="square" lIns="0" tIns="0" rIns="0" bIns="0" rtlCol="0" anchor="t"/>
          <a:lstStyle/>
          <a:p>
            <a:pPr indent="0" marL="0">
              <a:lnSpc>
                <a:spcPct val="105000"/>
              </a:lnSpc>
              <a:buNone/>
            </a:pPr>
            <a:r>
              <a:rPr lang="en-US" sz="980" dirty="0">
                <a:solidFill>
                  <a:srgbClr val="1A2233"/>
                </a:solidFill>
                <a:latin typeface="Calibri" pitchFamily="34" charset="0"/>
                <a:ea typeface="Calibri" pitchFamily="34" charset="-122"/>
                <a:cs typeface="Calibri" pitchFamily="34" charset="-120"/>
              </a:rPr>
              <a:t>An additive layer. It does not replace the controls that SAP and other approved platforms already provide; it extends attention to the processes, integrations, and extensions around them, and flags potential compliance risks created by program decisions — for example a segregation-of-duties risk from a process design choice.</a:t>
            </a:r>
            <a:endParaRPr lang="en-US" sz="980" dirty="0"/>
          </a:p>
        </p:txBody>
      </p:sp>
      <p:sp>
        <p:nvSpPr>
          <p:cNvPr id="17" name="Shape 15"/>
          <p:cNvSpPr/>
          <p:nvPr/>
        </p:nvSpPr>
        <p:spPr>
          <a:xfrm>
            <a:off x="457200" y="3657600"/>
            <a:ext cx="8183880" cy="987552"/>
          </a:xfrm>
          <a:prstGeom prst="rect">
            <a:avLst/>
          </a:prstGeom>
          <a:solidFill>
            <a:srgbClr val="1A2233"/>
          </a:solidFill>
          <a:ln w="12700">
            <a:solidFill>
              <a:srgbClr val="1A2233"/>
            </a:solidFill>
            <a:prstDash val="solid"/>
          </a:ln>
        </p:spPr>
      </p:sp>
      <p:sp>
        <p:nvSpPr>
          <p:cNvPr id="18" name="Text 16"/>
          <p:cNvSpPr/>
          <p:nvPr/>
        </p:nvSpPr>
        <p:spPr>
          <a:xfrm>
            <a:off x="685800" y="3749040"/>
            <a:ext cx="2743200" cy="201168"/>
          </a:xfrm>
          <a:prstGeom prst="rect">
            <a:avLst/>
          </a:prstGeom>
          <a:noFill/>
          <a:ln/>
        </p:spPr>
        <p:txBody>
          <a:bodyPr wrap="square" lIns="0" tIns="0" rIns="0" bIns="0" rtlCol="0" anchor="t"/>
          <a:lstStyle/>
          <a:p>
            <a:pPr indent="0" marL="0">
              <a:buNone/>
            </a:pPr>
            <a:r>
              <a:rPr lang="en-US" sz="950" b="1" spc="100" kern="0" dirty="0">
                <a:solidFill>
                  <a:srgbClr val="C1272D"/>
                </a:solidFill>
                <a:latin typeface="Calibri" pitchFamily="34" charset="0"/>
                <a:ea typeface="Calibri" pitchFamily="34" charset="-122"/>
                <a:cs typeface="Calibri" pitchFamily="34" charset="-120"/>
              </a:rPr>
              <a:t>HUMAN DECISION</a:t>
            </a:r>
            <a:endParaRPr lang="en-US" sz="950" dirty="0"/>
          </a:p>
        </p:txBody>
      </p:sp>
      <p:sp>
        <p:nvSpPr>
          <p:cNvPr id="19" name="Text 17"/>
          <p:cNvSpPr/>
          <p:nvPr/>
        </p:nvSpPr>
        <p:spPr>
          <a:xfrm>
            <a:off x="685800" y="3986784"/>
            <a:ext cx="7772400" cy="640080"/>
          </a:xfrm>
          <a:prstGeom prst="rect">
            <a:avLst/>
          </a:prstGeom>
          <a:noFill/>
          <a:ln/>
        </p:spPr>
        <p:txBody>
          <a:bodyPr wrap="square" lIns="0" tIns="0" rIns="0" bIns="0" rtlCol="0" anchor="t"/>
          <a:lstStyle/>
          <a:p>
            <a:pPr indent="0" marL="0">
              <a:lnSpc>
                <a:spcPct val="105000"/>
              </a:lnSpc>
              <a:buNone/>
            </a:pPr>
            <a:r>
              <a:rPr lang="en-US" sz="1050" dirty="0">
                <a:solidFill>
                  <a:srgbClr val="DDE1E6"/>
                </a:solidFill>
                <a:latin typeface="Calibri" pitchFamily="34" charset="0"/>
                <a:ea typeface="Calibri" pitchFamily="34" charset="-122"/>
                <a:cs typeface="Calibri" pitchFamily="34" charset="-120"/>
              </a:rPr>
              <a:t>Every flagged risk is assessed, and confirmed or dismissed, by the project team, the relevant process and subject-matter experts, and SAP experts. The framework supports identification, ownership, monitoring, and evidence; it does not itself determine or guarantee legal or regulatory compliance.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2233"/>
        </a:solidFill>
      </p:bgPr>
    </p:bg>
    <p:spTree>
      <p:nvGrpSpPr>
        <p:cNvPr id="1" name=""/>
        <p:cNvGrpSpPr/>
        <p:nvPr/>
      </p:nvGrpSpPr>
      <p:grpSpPr>
        <a:xfrm>
          <a:off x="0" y="0"/>
          <a:ext cx="0" cy="0"/>
          <a:chOff x="0" y="0"/>
          <a:chExt cx="0" cy="0"/>
        </a:xfrm>
      </p:grpSpPr>
      <p:sp>
        <p:nvSpPr>
          <p:cNvPr id="2" name="Text 0"/>
          <p:cNvSpPr/>
          <p:nvPr/>
        </p:nvSpPr>
        <p:spPr>
          <a:xfrm>
            <a:off x="548640" y="411480"/>
            <a:ext cx="4572000" cy="27432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EMERSON RUSH</a:t>
            </a:r>
            <a:endParaRPr lang="en-US" sz="1100" dirty="0"/>
          </a:p>
        </p:txBody>
      </p:sp>
      <p:sp>
        <p:nvSpPr>
          <p:cNvPr id="3" name="Text 1"/>
          <p:cNvSpPr/>
          <p:nvPr/>
        </p:nvSpPr>
        <p:spPr>
          <a:xfrm>
            <a:off x="548640" y="1234440"/>
            <a:ext cx="7772400" cy="274320"/>
          </a:xfrm>
          <a:prstGeom prst="rect">
            <a:avLst/>
          </a:prstGeom>
          <a:noFill/>
          <a:ln/>
        </p:spPr>
        <p:txBody>
          <a:bodyPr wrap="square" lIns="0" tIns="0" rIns="0" bIns="0" rtlCol="0" anchor="t"/>
          <a:lstStyle/>
          <a:p>
            <a:pPr indent="0" marL="0">
              <a:buNone/>
            </a:pPr>
            <a:r>
              <a:rPr lang="en-US" sz="1100" b="1" spc="150" kern="0" dirty="0">
                <a:solidFill>
                  <a:srgbClr val="C1272D"/>
                </a:solidFill>
                <a:latin typeface="Calibri" pitchFamily="34" charset="0"/>
                <a:ea typeface="Calibri" pitchFamily="34" charset="-122"/>
                <a:cs typeface="Calibri" pitchFamily="34" charset="-120"/>
              </a:rPr>
              <a:t>TRANSFORMATION, NOT IMPLEMENTATION ALONE</a:t>
            </a:r>
            <a:endParaRPr lang="en-US" sz="1100" dirty="0"/>
          </a:p>
        </p:txBody>
      </p:sp>
      <p:sp>
        <p:nvSpPr>
          <p:cNvPr id="4" name="Text 2"/>
          <p:cNvSpPr/>
          <p:nvPr/>
        </p:nvSpPr>
        <p:spPr>
          <a:xfrm>
            <a:off x="548640" y="1554480"/>
            <a:ext cx="7863840" cy="1005840"/>
          </a:xfrm>
          <a:prstGeom prst="rect">
            <a:avLst/>
          </a:prstGeom>
          <a:noFill/>
          <a:ln/>
        </p:spPr>
        <p:txBody>
          <a:bodyPr wrap="square" lIns="0" tIns="0" rIns="0" bIns="0" rtlCol="0" anchor="t"/>
          <a:lstStyle/>
          <a:p>
            <a:pPr indent="0" marL="0">
              <a:buNone/>
            </a:pPr>
            <a:r>
              <a:rPr lang="en-US" sz="2800" dirty="0">
                <a:solidFill>
                  <a:srgbClr val="FFFFFF"/>
                </a:solidFill>
                <a:latin typeface="Calibri Light" pitchFamily="34" charset="0"/>
                <a:ea typeface="Calibri Light" pitchFamily="34" charset="-122"/>
                <a:cs typeface="Calibri Light" pitchFamily="34" charset="-120"/>
              </a:rPr>
              <a:t>A technically complete implementation is not, by itself, transformation success.</a:t>
            </a:r>
            <a:endParaRPr lang="en-US" sz="2800" dirty="0"/>
          </a:p>
        </p:txBody>
      </p:sp>
      <p:sp>
        <p:nvSpPr>
          <p:cNvPr id="5" name="Text 3"/>
          <p:cNvSpPr/>
          <p:nvPr/>
        </p:nvSpPr>
        <p:spPr>
          <a:xfrm>
            <a:off x="548640" y="2651760"/>
            <a:ext cx="7680960" cy="640080"/>
          </a:xfrm>
          <a:prstGeom prst="rect">
            <a:avLst/>
          </a:prstGeom>
          <a:noFill/>
          <a:ln/>
        </p:spPr>
        <p:txBody>
          <a:bodyPr wrap="square" lIns="0" tIns="0" rIns="0" bIns="0" rtlCol="0" anchor="t"/>
          <a:lstStyle/>
          <a:p>
            <a:pPr indent="0" marL="0">
              <a:buNone/>
            </a:pPr>
            <a:r>
              <a:rPr lang="en-US" sz="1400" dirty="0">
                <a:solidFill>
                  <a:srgbClr val="C9CDD6"/>
                </a:solidFill>
                <a:latin typeface="Calibri" pitchFamily="34" charset="0"/>
                <a:ea typeface="Calibri" pitchFamily="34" charset="-122"/>
                <a:cs typeface="Calibri" pitchFamily="34" charset="-120"/>
              </a:rPr>
              <a:t>The program must show how the new capability is adopted, governed, operated, measured, and converted into realized business value.</a:t>
            </a:r>
            <a:endParaRPr lang="en-US" sz="1400" dirty="0"/>
          </a:p>
        </p:txBody>
      </p:sp>
      <p:sp>
        <p:nvSpPr>
          <p:cNvPr id="6" name="Shape 4"/>
          <p:cNvSpPr/>
          <p:nvPr/>
        </p:nvSpPr>
        <p:spPr>
          <a:xfrm>
            <a:off x="548640" y="3840480"/>
            <a:ext cx="8046720" cy="0"/>
          </a:xfrm>
          <a:prstGeom prst="line">
            <a:avLst/>
          </a:prstGeom>
          <a:noFill/>
          <a:ln w="9525">
            <a:solidFill>
              <a:srgbClr val="3A4357"/>
            </a:solidFill>
            <a:prstDash val="solid"/>
          </a:ln>
        </p:spPr>
      </p:sp>
      <p:sp>
        <p:nvSpPr>
          <p:cNvPr id="7" name="Text 5"/>
          <p:cNvSpPr/>
          <p:nvPr/>
        </p:nvSpPr>
        <p:spPr>
          <a:xfrm>
            <a:off x="548640" y="3977640"/>
            <a:ext cx="5669280" cy="548640"/>
          </a:xfrm>
          <a:prstGeom prst="rect">
            <a:avLst/>
          </a:prstGeom>
          <a:noFill/>
          <a:ln/>
        </p:spPr>
        <p:txBody>
          <a:bodyPr wrap="square" lIns="0" tIns="0" rIns="0" bIns="0" rtlCol="0" anchor="t"/>
          <a:lstStyle/>
          <a:p>
            <a:pPr indent="0" marL="0">
              <a:buNone/>
            </a:pPr>
            <a:r>
              <a:rPr lang="en-US" sz="1050" dirty="0">
                <a:solidFill>
                  <a:srgbClr val="C9CDD6"/>
                </a:solidFill>
                <a:latin typeface="Calibri" pitchFamily="34" charset="0"/>
                <a:ea typeface="Calibri" pitchFamily="34" charset="-122"/>
                <a:cs typeface="Calibri" pitchFamily="34" charset="-120"/>
              </a:rPr>
              <a:t>Experience developed in large SAP transformation programmes in Telecom and Retail, across multiple countries, Local Market and Shared Services Organizations.</a:t>
            </a:r>
            <a:endParaRPr lang="en-US" sz="1050" dirty="0"/>
          </a:p>
        </p:txBody>
      </p:sp>
      <p:sp>
        <p:nvSpPr>
          <p:cNvPr id="8" name="Text 6"/>
          <p:cNvSpPr/>
          <p:nvPr/>
        </p:nvSpPr>
        <p:spPr>
          <a:xfrm>
            <a:off x="6309360" y="3977640"/>
            <a:ext cx="2286000" cy="548640"/>
          </a:xfrm>
          <a:prstGeom prst="rect">
            <a:avLst/>
          </a:prstGeom>
          <a:noFill/>
          <a:ln/>
        </p:spPr>
        <p:txBody>
          <a:bodyPr wrap="square" lIns="0" tIns="0" rIns="0" bIns="0" rtlCol="0" anchor="t"/>
          <a:lstStyle/>
          <a:p>
            <a:pPr algn="r" indent="0" marL="0">
              <a:buNone/>
            </a:pPr>
            <a:r>
              <a:rPr lang="en-US" sz="1100" b="1" dirty="0">
                <a:solidFill>
                  <a:srgbClr val="FFFFFF"/>
                </a:solidFill>
                <a:latin typeface="Calibri" pitchFamily="34" charset="0"/>
                <a:ea typeface="Calibri" pitchFamily="34" charset="-122"/>
                <a:cs typeface="Calibri" pitchFamily="34" charset="-120"/>
              </a:rPr>
              <a:t>Lilian Corvington</a:t>
            </a:r>
            <a:endParaRPr lang="en-US" sz="1100" dirty="0"/>
          </a:p>
          <a:p>
            <a:pPr algn="r" indent="0" marL="0">
              <a:buNone/>
            </a:pPr>
            <a:r>
              <a:rPr lang="en-US" sz="1100" u="sng" dirty="0">
                <a:solidFill>
                  <a:srgbClr val="C9CDD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emersonrush.com</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Decision Intelligence PMO Model — Emerson Rush</dc:title>
  <dc:subject>PptxGenJS Presentation</dc:subject>
  <dc:creator>Lilian Corvington</dc:creator>
  <cp:lastModifiedBy>Lilian Corvington</cp:lastModifiedBy>
  <cp:revision>1</cp:revision>
  <dcterms:created xsi:type="dcterms:W3CDTF">2026-10-07T01:42:17Z</dcterms:created>
  <dcterms:modified xsi:type="dcterms:W3CDTF">2026-10-07T01:42:17Z</dcterms:modified>
</cp:coreProperties>
</file>